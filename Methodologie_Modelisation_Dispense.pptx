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MÉTHODOLOGIE DE MODÉLISATION - PHYSIQUE &amp; ÉQUATIONS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77" y="914400"/>
            <a:ext cx="4193458" cy="5288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rPr dirty="0" err="1"/>
              <a:t>Approche</a:t>
            </a:r>
            <a:r>
              <a:rPr dirty="0"/>
              <a:t> de simulation</a:t>
            </a:r>
          </a:p>
          <a:p>
            <a:pPr>
              <a:spcBef>
                <a:spcPts val="300"/>
              </a:spcBef>
              <a:defRPr sz="1200"/>
            </a:pPr>
            <a:r>
              <a:rPr dirty="0"/>
              <a:t>• Simulation </a:t>
            </a:r>
            <a:r>
              <a:rPr dirty="0" err="1"/>
              <a:t>diphasique</a:t>
            </a:r>
            <a:r>
              <a:rPr dirty="0"/>
              <a:t> (</a:t>
            </a:r>
            <a:r>
              <a:rPr dirty="0" err="1"/>
              <a:t>encre</a:t>
            </a:r>
            <a:r>
              <a:rPr dirty="0"/>
              <a:t> Ag/AgCl + air)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domaine</a:t>
            </a:r>
            <a:r>
              <a:rPr dirty="0"/>
              <a:t> </a:t>
            </a:r>
            <a:r>
              <a:rPr dirty="0" err="1"/>
              <a:t>microfluidique</a:t>
            </a:r>
            <a:endParaRPr dirty="0"/>
          </a:p>
          <a:p>
            <a:pPr>
              <a:spcBef>
                <a:spcPts val="300"/>
              </a:spcBef>
              <a:defRPr sz="1200"/>
            </a:pPr>
            <a:r>
              <a:rPr dirty="0"/>
              <a:t>• </a:t>
            </a:r>
            <a:r>
              <a:rPr dirty="0" err="1"/>
              <a:t>Méthode</a:t>
            </a:r>
            <a:r>
              <a:rPr dirty="0"/>
              <a:t> Phase-Field pour le </a:t>
            </a:r>
            <a:r>
              <a:rPr dirty="0" err="1"/>
              <a:t>suivi</a:t>
            </a:r>
            <a:r>
              <a:rPr dirty="0"/>
              <a:t> </a:t>
            </a:r>
            <a:r>
              <a:rPr dirty="0" err="1"/>
              <a:t>d'interface</a:t>
            </a:r>
            <a:endParaRPr dirty="0"/>
          </a:p>
          <a:p>
            <a:pPr>
              <a:spcBef>
                <a:spcPts val="300"/>
              </a:spcBef>
              <a:defRPr sz="1200"/>
            </a:pPr>
            <a:r>
              <a:rPr dirty="0"/>
              <a:t>• Régime </a:t>
            </a:r>
            <a:r>
              <a:rPr dirty="0" err="1"/>
              <a:t>laminaire</a:t>
            </a:r>
            <a:r>
              <a:rPr dirty="0"/>
              <a:t> incompressible</a:t>
            </a:r>
            <a:endParaRPr lang="fr-FR" dirty="0"/>
          </a:p>
          <a:p>
            <a:pPr>
              <a:spcBef>
                <a:spcPts val="300"/>
              </a:spcBef>
              <a:defRPr sz="1200"/>
            </a:pPr>
            <a:endParaRPr lang="fr-FR" dirty="0"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rPr lang="fr-FR" dirty="0"/>
              <a:t>Équations gouvernantes</a:t>
            </a:r>
          </a:p>
          <a:p>
            <a:pPr>
              <a:spcBef>
                <a:spcPts val="800"/>
              </a:spcBef>
              <a:defRPr sz="1100" b="1"/>
            </a:pPr>
            <a:r>
              <a:rPr lang="fr-FR" dirty="0"/>
              <a:t>1. Navier-Stokes (conservation de la masse et quantité de mouvement)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rPr lang="fr-FR" dirty="0"/>
              <a:t>   ∇·v = 0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rPr lang="fr-FR" dirty="0"/>
              <a:t>   </a:t>
            </a:r>
            <a:r>
              <a:rPr lang="el-GR" dirty="0"/>
              <a:t>ρ(∂</a:t>
            </a:r>
            <a:r>
              <a:rPr lang="fr-FR" dirty="0"/>
              <a:t>v/∂t + v·∇v) = -∇p + ∇·</a:t>
            </a:r>
            <a:r>
              <a:rPr lang="el-GR" dirty="0"/>
              <a:t>τ + ρ</a:t>
            </a:r>
            <a:r>
              <a:rPr lang="fr-FR" dirty="0"/>
              <a:t>g + F_</a:t>
            </a:r>
            <a:r>
              <a:rPr lang="el-GR" dirty="0"/>
              <a:t>σ</a:t>
            </a:r>
          </a:p>
          <a:p>
            <a:pPr>
              <a:spcBef>
                <a:spcPts val="800"/>
              </a:spcBef>
              <a:defRPr sz="1100" b="1"/>
            </a:pPr>
            <a:r>
              <a:rPr lang="el-GR" dirty="0"/>
              <a:t>2. </a:t>
            </a:r>
            <a:r>
              <a:rPr lang="fr-FR" dirty="0"/>
              <a:t>Rhéologie : Modèle de Carreau (fluide rhéofluidifiant)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rPr lang="fr-FR" dirty="0"/>
              <a:t>   </a:t>
            </a:r>
            <a:r>
              <a:rPr lang="el-GR" dirty="0"/>
              <a:t>η(γ̇) = η_∞ + (η₀ - η_∞)[1 + (λγ̇)²]^((</a:t>
            </a:r>
            <a:r>
              <a:rPr lang="fr-FR" dirty="0"/>
              <a:t>n-1)/2)</a:t>
            </a:r>
          </a:p>
          <a:p>
            <a:pPr>
              <a:spcBef>
                <a:spcPts val="800"/>
              </a:spcBef>
              <a:defRPr sz="1100" b="1"/>
            </a:pPr>
            <a:r>
              <a:rPr lang="fr-FR" dirty="0"/>
              <a:t>3. Transport d'interface (Phase-Field)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rPr lang="fr-FR" dirty="0"/>
              <a:t>   ∂</a:t>
            </a:r>
            <a:r>
              <a:rPr lang="el-GR" dirty="0"/>
              <a:t>φ/∂</a:t>
            </a:r>
            <a:r>
              <a:rPr lang="fr-FR" dirty="0"/>
              <a:t>t + v·∇</a:t>
            </a:r>
            <a:r>
              <a:rPr lang="el-GR" dirty="0"/>
              <a:t>φ = γ∇·[ε∇φ - φ(1-φ²)</a:t>
            </a:r>
            <a:r>
              <a:rPr lang="fr-FR" dirty="0"/>
              <a:t>n]</a:t>
            </a:r>
          </a:p>
          <a:p>
            <a:pPr>
              <a:spcBef>
                <a:spcPts val="800"/>
              </a:spcBef>
              <a:defRPr sz="1100" b="1"/>
            </a:pPr>
            <a:r>
              <a:rPr lang="fr-FR" dirty="0"/>
              <a:t>4. Tension de surface</a:t>
            </a:r>
          </a:p>
          <a:p>
            <a:pPr>
              <a:spcBef>
                <a:spcPts val="200"/>
              </a:spcBef>
              <a:defRPr sz="1000">
                <a:latin typeface="Courier New"/>
              </a:defRPr>
            </a:pPr>
            <a:r>
              <a:rPr lang="fr-FR" dirty="0"/>
              <a:t>   F_</a:t>
            </a:r>
            <a:r>
              <a:rPr lang="el-GR" dirty="0"/>
              <a:t>σ = σκδ(φ)</a:t>
            </a:r>
            <a:r>
              <a:rPr lang="fr-FR" dirty="0"/>
              <a:t>n</a:t>
            </a:r>
          </a:p>
          <a:p>
            <a:pPr>
              <a:defRPr sz="1400" b="1">
                <a:solidFill>
                  <a:srgbClr val="003366"/>
                </a:solidFill>
              </a:defRPr>
            </a:pPr>
            <a:endParaRPr lang="fr-FR" dirty="0"/>
          </a:p>
          <a:p>
            <a:pPr>
              <a:defRPr sz="1400" b="1">
                <a:solidFill>
                  <a:srgbClr val="003366"/>
                </a:solidFill>
              </a:defRPr>
            </a:pPr>
            <a:r>
              <a:rPr lang="fr-FR" sz="1600" dirty="0"/>
              <a:t>Conditions aux limites clés</a:t>
            </a:r>
          </a:p>
          <a:p>
            <a:pPr>
              <a:spcBef>
                <a:spcPts val="300"/>
              </a:spcBef>
              <a:defRPr sz="1100"/>
            </a:pPr>
            <a:r>
              <a:rPr lang="fr-FR" dirty="0"/>
              <a:t>• Parois : Non-glissement (v = 0)</a:t>
            </a:r>
          </a:p>
          <a:p>
            <a:pPr>
              <a:spcBef>
                <a:spcPts val="300"/>
              </a:spcBef>
              <a:defRPr sz="1100"/>
            </a:pPr>
            <a:r>
              <a:rPr lang="fr-FR" dirty="0"/>
              <a:t>• Angle de contact : </a:t>
            </a:r>
            <a:r>
              <a:rPr lang="fr-FR" dirty="0" err="1"/>
              <a:t>n_w</a:t>
            </a:r>
            <a:r>
              <a:rPr lang="fr-FR" dirty="0"/>
              <a:t>·∇</a:t>
            </a:r>
            <a:r>
              <a:rPr lang="el-GR" dirty="0"/>
              <a:t>φ = -(1/ε)</a:t>
            </a:r>
            <a:r>
              <a:rPr lang="fr-FR" dirty="0"/>
              <a:t>cos(</a:t>
            </a:r>
            <a:r>
              <a:rPr lang="el-GR" dirty="0"/>
              <a:t>θ)</a:t>
            </a:r>
          </a:p>
          <a:p>
            <a:pPr>
              <a:spcBef>
                <a:spcPts val="300"/>
              </a:spcBef>
              <a:defRPr sz="1100"/>
            </a:pPr>
            <a:r>
              <a:rPr lang="el-GR" dirty="0"/>
              <a:t>• </a:t>
            </a:r>
            <a:r>
              <a:rPr lang="fr-FR" dirty="0"/>
              <a:t>Entrée : v = v₀ (0.1 m/s), </a:t>
            </a:r>
            <a:r>
              <a:rPr lang="el-GR" dirty="0"/>
              <a:t>φ = 1 (</a:t>
            </a:r>
            <a:r>
              <a:rPr lang="fr-FR" dirty="0"/>
              <a:t>encre)</a:t>
            </a:r>
          </a:p>
          <a:p>
            <a:pPr>
              <a:spcBef>
                <a:spcPts val="300"/>
              </a:spcBef>
              <a:defRPr sz="1100"/>
            </a:pPr>
            <a:r>
              <a:rPr lang="fr-FR" dirty="0"/>
              <a:t>• Sortie : p = </a:t>
            </a:r>
            <a:r>
              <a:rPr lang="fr-FR" dirty="0" err="1"/>
              <a:t>p_atm</a:t>
            </a:r>
            <a:endParaRPr lang="fr-FR" dirty="0"/>
          </a:p>
        </p:txBody>
      </p:sp>
      <p:sp>
        <p:nvSpPr>
          <p:cNvPr id="6" name="TextBox 2"/>
          <p:cNvSpPr txBox="1"/>
          <p:nvPr/>
        </p:nvSpPr>
        <p:spPr>
          <a:xfrm>
            <a:off x="4842384" y="871175"/>
            <a:ext cx="3829664" cy="587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rPr dirty="0"/>
              <a:t>Données </a:t>
            </a:r>
            <a:r>
              <a:rPr dirty="0" err="1"/>
              <a:t>d'entrée</a:t>
            </a:r>
            <a:endParaRPr dirty="0"/>
          </a:p>
          <a:p>
            <a:pPr>
              <a:spcBef>
                <a:spcPts val="800"/>
              </a:spcBef>
              <a:defRPr sz="1200" b="1"/>
            </a:pPr>
            <a:r>
              <a:rPr dirty="0"/>
              <a:t>• </a:t>
            </a:r>
            <a:r>
              <a:rPr dirty="0" err="1"/>
              <a:t>Géométrie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</a:t>
            </a:r>
            <a:r>
              <a:rPr dirty="0" err="1"/>
              <a:t>Diamètre</a:t>
            </a:r>
            <a:r>
              <a:rPr dirty="0"/>
              <a:t> </a:t>
            </a:r>
            <a:r>
              <a:rPr dirty="0" err="1"/>
              <a:t>puit</a:t>
            </a:r>
            <a:r>
              <a:rPr dirty="0"/>
              <a:t> (</a:t>
            </a:r>
            <a:r>
              <a:rPr dirty="0" err="1"/>
              <a:t>D_w</a:t>
            </a:r>
            <a:r>
              <a:rPr dirty="0"/>
              <a:t>): 800 - 1500 </a:t>
            </a:r>
            <a:r>
              <a:rPr dirty="0" err="1"/>
              <a:t>μm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</a:t>
            </a:r>
            <a:r>
              <a:rPr dirty="0" err="1"/>
              <a:t>Diamètre</a:t>
            </a:r>
            <a:r>
              <a:rPr dirty="0"/>
              <a:t> </a:t>
            </a:r>
            <a:r>
              <a:rPr dirty="0" err="1"/>
              <a:t>seringue</a:t>
            </a:r>
            <a:r>
              <a:rPr dirty="0"/>
              <a:t> (D_s): 200 - 350 </a:t>
            </a:r>
            <a:r>
              <a:rPr dirty="0" err="1"/>
              <a:t>μm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</a:t>
            </a:r>
            <a:r>
              <a:rPr dirty="0" err="1"/>
              <a:t>Décalage</a:t>
            </a:r>
            <a:r>
              <a:rPr dirty="0"/>
              <a:t> horizontal (</a:t>
            </a:r>
            <a:r>
              <a:rPr dirty="0" err="1"/>
              <a:t>Δx</a:t>
            </a:r>
            <a:r>
              <a:rPr dirty="0"/>
              <a:t>): 0, -75, -150 </a:t>
            </a:r>
            <a:r>
              <a:rPr dirty="0" err="1"/>
              <a:t>μm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Hauteur </a:t>
            </a:r>
            <a:r>
              <a:rPr dirty="0" err="1"/>
              <a:t>puit</a:t>
            </a:r>
            <a:r>
              <a:rPr dirty="0"/>
              <a:t> (</a:t>
            </a:r>
            <a:r>
              <a:rPr dirty="0" err="1"/>
              <a:t>h_w</a:t>
            </a:r>
            <a:r>
              <a:rPr dirty="0"/>
              <a:t>): 128 </a:t>
            </a:r>
            <a:r>
              <a:rPr dirty="0" err="1"/>
              <a:t>μm</a:t>
            </a:r>
            <a:r>
              <a:rPr dirty="0"/>
              <a:t> (fixe)</a:t>
            </a:r>
          </a:p>
          <a:p>
            <a:pPr>
              <a:spcBef>
                <a:spcPts val="800"/>
              </a:spcBef>
              <a:defRPr sz="1200" b="1"/>
            </a:pPr>
            <a:r>
              <a:rPr dirty="0"/>
              <a:t>• </a:t>
            </a:r>
            <a:r>
              <a:rPr dirty="0" err="1"/>
              <a:t>Rhéologie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</a:t>
            </a:r>
            <a:r>
              <a:rPr dirty="0" err="1"/>
              <a:t>Viscosité</a:t>
            </a:r>
            <a:r>
              <a:rPr dirty="0"/>
              <a:t> au repos (η₀): 0.5 - 5 </a:t>
            </a:r>
            <a:r>
              <a:rPr dirty="0" err="1"/>
              <a:t>Pa·s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</a:t>
            </a:r>
            <a:r>
              <a:rPr dirty="0" err="1"/>
              <a:t>Viscosité</a:t>
            </a:r>
            <a:r>
              <a:rPr dirty="0"/>
              <a:t> </a:t>
            </a:r>
            <a:r>
              <a:rPr dirty="0" err="1"/>
              <a:t>cisaillement</a:t>
            </a:r>
            <a:r>
              <a:rPr dirty="0"/>
              <a:t> </a:t>
            </a:r>
            <a:r>
              <a:rPr dirty="0" err="1"/>
              <a:t>infini</a:t>
            </a:r>
            <a:r>
              <a:rPr dirty="0"/>
              <a:t> (η_∞): 0.05 </a:t>
            </a:r>
            <a:r>
              <a:rPr dirty="0" err="1"/>
              <a:t>Pa·s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Temps relaxation (λ): 0.15 s</a:t>
            </a:r>
          </a:p>
          <a:p>
            <a:pPr>
              <a:spcBef>
                <a:spcPts val="200"/>
              </a:spcBef>
              <a:defRPr sz="1000"/>
            </a:pPr>
            <a:r>
              <a:rPr dirty="0"/>
              <a:t>   - </a:t>
            </a:r>
            <a:r>
              <a:rPr dirty="0" err="1"/>
              <a:t>Indice</a:t>
            </a:r>
            <a:r>
              <a:rPr dirty="0"/>
              <a:t> </a:t>
            </a:r>
            <a:r>
              <a:rPr dirty="0" err="1"/>
              <a:t>pseudoplasticité</a:t>
            </a:r>
            <a:r>
              <a:rPr dirty="0"/>
              <a:t> (n): 0.7</a:t>
            </a:r>
          </a:p>
          <a:p>
            <a:pPr>
              <a:spcBef>
                <a:spcPts val="800"/>
              </a:spcBef>
              <a:defRPr sz="1200" b="1"/>
            </a:pPr>
            <a:r>
              <a:rPr dirty="0"/>
              <a:t>• </a:t>
            </a:r>
            <a:r>
              <a:rPr dirty="0" err="1"/>
              <a:t>Mouillage</a:t>
            </a:r>
            <a:endParaRPr dirty="0"/>
          </a:p>
          <a:p>
            <a:pPr>
              <a:spcBef>
                <a:spcPts val="200"/>
              </a:spcBef>
              <a:defRPr sz="1000"/>
            </a:pPr>
            <a:r>
              <a:rPr dirty="0"/>
              <a:t>   - Angle contact </a:t>
            </a:r>
            <a:r>
              <a:rPr dirty="0" err="1"/>
              <a:t>électrode</a:t>
            </a:r>
            <a:r>
              <a:rPr dirty="0"/>
              <a:t> or (</a:t>
            </a:r>
            <a:r>
              <a:rPr dirty="0" err="1"/>
              <a:t>θ_or</a:t>
            </a:r>
            <a:r>
              <a:rPr dirty="0"/>
              <a:t>): 35 - 70°</a:t>
            </a:r>
          </a:p>
          <a:p>
            <a:pPr>
              <a:spcBef>
                <a:spcPts val="200"/>
              </a:spcBef>
              <a:defRPr sz="1000"/>
            </a:pPr>
            <a:r>
              <a:rPr dirty="0"/>
              <a:t>   - Angle contact </a:t>
            </a:r>
            <a:r>
              <a:rPr dirty="0" err="1"/>
              <a:t>paroi</a:t>
            </a:r>
            <a:r>
              <a:rPr dirty="0"/>
              <a:t> (</a:t>
            </a:r>
            <a:r>
              <a:rPr dirty="0" err="1"/>
              <a:t>θ_wall</a:t>
            </a:r>
            <a:r>
              <a:rPr dirty="0"/>
              <a:t>): 35 - 90°</a:t>
            </a:r>
          </a:p>
          <a:p>
            <a:pPr>
              <a:spcBef>
                <a:spcPts val="800"/>
              </a:spcBef>
              <a:defRPr sz="1200" b="1"/>
            </a:pPr>
            <a:r>
              <a:rPr dirty="0"/>
              <a:t>• Interface</a:t>
            </a:r>
          </a:p>
          <a:p>
            <a:pPr>
              <a:spcBef>
                <a:spcPts val="200"/>
              </a:spcBef>
              <a:defRPr sz="1000"/>
            </a:pPr>
            <a:r>
              <a:rPr dirty="0"/>
              <a:t>   - Tension de surface (σ): 40 </a:t>
            </a:r>
            <a:r>
              <a:rPr dirty="0" err="1"/>
              <a:t>mN</a:t>
            </a:r>
            <a:r>
              <a:rPr dirty="0"/>
              <a:t>/m</a:t>
            </a:r>
          </a:p>
          <a:p>
            <a:pPr>
              <a:spcBef>
                <a:spcPts val="800"/>
              </a:spcBef>
              <a:defRPr sz="1200" b="1"/>
            </a:pPr>
            <a:r>
              <a:rPr dirty="0"/>
              <a:t>• Process</a:t>
            </a:r>
          </a:p>
          <a:p>
            <a:pPr>
              <a:spcBef>
                <a:spcPts val="200"/>
              </a:spcBef>
              <a:defRPr sz="1000"/>
            </a:pPr>
            <a:r>
              <a:rPr dirty="0"/>
              <a:t>   - Temps dispense: 40 </a:t>
            </a:r>
            <a:r>
              <a:rPr dirty="0" err="1"/>
              <a:t>ms</a:t>
            </a:r>
            <a:endParaRPr lang="fr-FR" dirty="0"/>
          </a:p>
          <a:p>
            <a:pPr>
              <a:spcBef>
                <a:spcPts val="200"/>
              </a:spcBef>
              <a:defRPr sz="1000"/>
            </a:pPr>
            <a:r>
              <a:rPr lang="fr-FR" dirty="0"/>
              <a:t>   - Remplissage du </a:t>
            </a:r>
            <a:r>
              <a:rPr lang="fr-FR" dirty="0" err="1"/>
              <a:t>well</a:t>
            </a:r>
            <a:r>
              <a:rPr lang="fr-FR" dirty="0"/>
              <a:t>: 80% (surface buse / surface </a:t>
            </a:r>
            <a:r>
              <a:rPr lang="fr-FR" dirty="0" err="1"/>
              <a:t>well</a:t>
            </a:r>
            <a:r>
              <a:rPr lang="fr-FR" dirty="0"/>
              <a:t> = 0,8)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endParaRPr lang="fr-FR" dirty="0"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rPr lang="fr-FR" dirty="0"/>
              <a:t>Données de sortie</a:t>
            </a:r>
          </a:p>
          <a:p>
            <a:pPr>
              <a:spcBef>
                <a:spcPts val="500"/>
              </a:spcBef>
              <a:defRPr sz="1100"/>
            </a:pPr>
            <a:r>
              <a:rPr lang="fr-FR" dirty="0"/>
              <a:t>• Champs spatiaux-temporels: Vitesse (u, v), Pression (p), Fraction volumique (φ)</a:t>
            </a:r>
          </a:p>
          <a:p>
            <a:pPr>
              <a:spcBef>
                <a:spcPts val="500"/>
              </a:spcBef>
              <a:defRPr sz="1100"/>
            </a:pPr>
            <a:r>
              <a:rPr lang="fr-FR" dirty="0"/>
              <a:t>• Dynamique interface: Position interface, Courbure (κ)</a:t>
            </a:r>
          </a:p>
          <a:p>
            <a:pPr>
              <a:spcBef>
                <a:spcPts val="500"/>
              </a:spcBef>
              <a:defRPr sz="1100"/>
            </a:pPr>
            <a:r>
              <a:rPr lang="fr-FR" dirty="0"/>
              <a:t>• Visualisation goutte encre dispensée:  Interface, Géométrie, Mouillage parois</a:t>
            </a:r>
          </a:p>
          <a:p>
            <a:pPr>
              <a:spcBef>
                <a:spcPts val="500"/>
              </a:spcBef>
              <a:defRPr sz="1100"/>
            </a:pPr>
            <a:r>
              <a:rPr lang="fr-FR" dirty="0"/>
              <a:t>• Visualisation: Animation GIF 2D de l'écoulement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466</Words>
  <Application>Microsoft Office PowerPoint</Application>
  <PresentationFormat>Affichage à l'écran (4:3)</PresentationFormat>
  <Paragraphs>47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Queau</cp:lastModifiedBy>
  <cp:revision>2</cp:revision>
  <dcterms:created xsi:type="dcterms:W3CDTF">2013-01-27T09:14:16Z</dcterms:created>
  <dcterms:modified xsi:type="dcterms:W3CDTF">2025-10-07T19:37:31Z</dcterms:modified>
  <cp:category/>
</cp:coreProperties>
</file>