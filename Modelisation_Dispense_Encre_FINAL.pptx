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74" r:id="rId7"/>
    <p:sldId id="270" r:id="rId8"/>
    <p:sldId id="275" r:id="rId9"/>
    <p:sldId id="271" r:id="rId10"/>
    <p:sldId id="276" r:id="rId11"/>
    <p:sldId id="272" r:id="rId12"/>
    <p:sldId id="277" r:id="rId13"/>
    <p:sldId id="273" r:id="rId14"/>
    <p:sldId id="278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82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6157" y="1828800"/>
            <a:ext cx="873168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2BC"/>
                </a:solidFill>
              </a:defRPr>
            </a:pPr>
            <a:r>
              <a:rPr dirty="0" err="1"/>
              <a:t>Modélisation</a:t>
            </a:r>
            <a:r>
              <a:rPr dirty="0"/>
              <a:t> de la dispense </a:t>
            </a:r>
            <a:r>
              <a:rPr dirty="0" err="1"/>
              <a:t>d'encre</a:t>
            </a:r>
            <a:r>
              <a:rPr dirty="0"/>
              <a:t> Ag/AgCl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13503" y="3200400"/>
            <a:ext cx="591700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04040"/>
                </a:solidFill>
              </a:defRPr>
            </a:pPr>
            <a:r>
              <a:rPr dirty="0"/>
              <a:t>De </a:t>
            </a:r>
            <a:r>
              <a:rPr lang="fr-FR" dirty="0"/>
              <a:t>Python &amp; </a:t>
            </a:r>
            <a:r>
              <a:rPr lang="fr-FR" dirty="0" err="1"/>
              <a:t>Openfoam</a:t>
            </a:r>
            <a:r>
              <a:rPr lang="fr-FR" dirty="0"/>
              <a:t> </a:t>
            </a:r>
            <a:r>
              <a:rPr dirty="0"/>
              <a:t>à </a:t>
            </a:r>
            <a:r>
              <a:rPr dirty="0" err="1"/>
              <a:t>l'interface</a:t>
            </a:r>
            <a:r>
              <a:rPr dirty="0"/>
              <a:t> </a:t>
            </a:r>
            <a:r>
              <a:rPr dirty="0" err="1"/>
              <a:t>Streamlit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526713" y="4572000"/>
            <a:ext cx="209057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04040"/>
                </a:solidFill>
              </a:defRPr>
            </a:pPr>
            <a:r>
              <a:rPr dirty="0" err="1"/>
              <a:t>Projet</a:t>
            </a:r>
            <a:r>
              <a:rPr dirty="0"/>
              <a:t>: Python - Nozzle</a:t>
            </a:r>
          </a:p>
          <a:p>
            <a:pPr algn="ctr">
              <a:defRPr sz="1600">
                <a:solidFill>
                  <a:srgbClr val="404040"/>
                </a:solidFill>
              </a:defRPr>
            </a:pPr>
            <a:r>
              <a:rPr dirty="0"/>
              <a:t>October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2BC"/>
                </a:solidFill>
              </a:defRPr>
            </a:pPr>
            <a:r>
              <a:t>Contexte &amp; Objectifs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31.10.25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6400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C00000"/>
                </a:solidFill>
              </a:defRPr>
            </a:pPr>
            <a:r>
              <a:t>Confidential. Not to be reproduced without the permission of Linxens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0072BC"/>
                </a:solidFill>
              </a:defRPr>
            </a:pPr>
            <a:r>
              <a:rPr dirty="0"/>
              <a:t>PROBLÉMATIQUE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rPr dirty="0" err="1"/>
              <a:t>Comprendre</a:t>
            </a:r>
            <a:r>
              <a:rPr dirty="0"/>
              <a:t> et </a:t>
            </a:r>
            <a:r>
              <a:rPr dirty="0" err="1"/>
              <a:t>prédire</a:t>
            </a:r>
            <a:r>
              <a:rPr dirty="0"/>
              <a:t> le </a:t>
            </a:r>
            <a:r>
              <a:rPr dirty="0" err="1"/>
              <a:t>comportement</a:t>
            </a:r>
            <a:r>
              <a:rPr dirty="0"/>
              <a:t> de dispense </a:t>
            </a:r>
            <a:r>
              <a:rPr dirty="0" err="1"/>
              <a:t>d'encre</a:t>
            </a:r>
            <a:r>
              <a:rPr dirty="0"/>
              <a:t> Ag/AgCl dans les </a:t>
            </a:r>
            <a:r>
              <a:rPr dirty="0" err="1"/>
              <a:t>puits</a:t>
            </a:r>
            <a:r>
              <a:rPr dirty="0"/>
              <a:t> </a:t>
            </a:r>
            <a:r>
              <a:rPr dirty="0" err="1"/>
              <a:t>microfluidiques</a:t>
            </a:r>
            <a:r>
              <a:rPr dirty="0"/>
              <a:t> pour </a:t>
            </a:r>
            <a:r>
              <a:rPr dirty="0" err="1"/>
              <a:t>optimiser</a:t>
            </a:r>
            <a:r>
              <a:rPr dirty="0"/>
              <a:t> la fabrication </a:t>
            </a:r>
            <a:r>
              <a:rPr dirty="0" err="1"/>
              <a:t>d'électrodes</a:t>
            </a:r>
            <a:r>
              <a:rPr dirty="0"/>
              <a:t> de </a:t>
            </a:r>
            <a:r>
              <a:rPr dirty="0" err="1"/>
              <a:t>référence</a:t>
            </a:r>
            <a:r>
              <a:rPr dirty="0"/>
              <a:t> dans les </a:t>
            </a:r>
            <a:r>
              <a:rPr dirty="0" err="1"/>
              <a:t>biosenseurs</a:t>
            </a:r>
            <a:r>
              <a:rPr dirty="0"/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0072BC"/>
                </a:solidFill>
              </a:defRPr>
            </a:pPr>
            <a:r>
              <a:rPr dirty="0"/>
              <a:t>ENJEU TECHNIQUE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rPr dirty="0"/>
              <a:t>• Transition de COMSOL Multiphysics (</a:t>
            </a:r>
            <a:r>
              <a:rPr dirty="0" err="1"/>
              <a:t>licence</a:t>
            </a:r>
            <a:r>
              <a:rPr dirty="0"/>
              <a:t> </a:t>
            </a:r>
            <a:r>
              <a:rPr dirty="0" err="1"/>
              <a:t>démo</a:t>
            </a:r>
            <a:r>
              <a:rPr dirty="0"/>
              <a:t> </a:t>
            </a:r>
            <a:r>
              <a:rPr dirty="0" err="1"/>
              <a:t>limitée</a:t>
            </a:r>
            <a:r>
              <a:rPr dirty="0"/>
              <a:t>) vers solution</a:t>
            </a:r>
            <a:r>
              <a:rPr lang="fr-FR" dirty="0"/>
              <a:t>s </a:t>
            </a:r>
            <a:r>
              <a:rPr dirty="0"/>
              <a:t>open-source</a:t>
            </a:r>
            <a:r>
              <a:rPr lang="fr-FR" dirty="0"/>
              <a:t>: Python ou </a:t>
            </a:r>
            <a:r>
              <a:rPr lang="fr-FR" dirty="0" err="1"/>
              <a:t>Openfoam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rPr dirty="0"/>
              <a:t>• Gain </a:t>
            </a:r>
            <a:r>
              <a:rPr dirty="0" err="1"/>
              <a:t>d'autonomie</a:t>
            </a:r>
            <a:r>
              <a:rPr dirty="0"/>
              <a:t> et </a:t>
            </a:r>
            <a:r>
              <a:rPr dirty="0" err="1"/>
              <a:t>flexibilité</a:t>
            </a:r>
            <a:r>
              <a:rPr dirty="0"/>
              <a:t> dans les simulations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rPr dirty="0"/>
              <a:t>• </a:t>
            </a:r>
            <a:r>
              <a:rPr dirty="0" err="1"/>
              <a:t>Réduction</a:t>
            </a:r>
            <a:r>
              <a:rPr dirty="0"/>
              <a:t> des </a:t>
            </a:r>
            <a:r>
              <a:rPr dirty="0" err="1"/>
              <a:t>coûts</a:t>
            </a:r>
            <a:r>
              <a:rPr dirty="0"/>
              <a:t> de </a:t>
            </a:r>
            <a:r>
              <a:rPr dirty="0" err="1"/>
              <a:t>licences</a:t>
            </a:r>
            <a:r>
              <a:rPr dirty="0"/>
              <a:t> </a:t>
            </a:r>
            <a:r>
              <a:rPr dirty="0" err="1"/>
              <a:t>logicielles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0072BC"/>
                </a:solidFill>
              </a:defRPr>
            </a:pPr>
            <a:r>
              <a:rPr dirty="0"/>
              <a:t>OBJECTIFS DU PROJET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rPr dirty="0"/>
              <a:t>• </a:t>
            </a:r>
            <a:r>
              <a:rPr dirty="0" err="1"/>
              <a:t>Implémenter</a:t>
            </a:r>
            <a:r>
              <a:rPr dirty="0"/>
              <a:t> la physique </a:t>
            </a:r>
            <a:r>
              <a:rPr dirty="0" err="1"/>
              <a:t>diphasique</a:t>
            </a:r>
            <a:r>
              <a:rPr dirty="0"/>
              <a:t> </a:t>
            </a:r>
            <a:r>
              <a:rPr dirty="0" err="1"/>
              <a:t>complète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Python (</a:t>
            </a:r>
            <a:r>
              <a:rPr dirty="0" err="1"/>
              <a:t>FEniCSx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rPr dirty="0"/>
              <a:t>• </a:t>
            </a:r>
            <a:r>
              <a:rPr dirty="0" err="1"/>
              <a:t>Valider</a:t>
            </a:r>
            <a:r>
              <a:rPr dirty="0"/>
              <a:t> les </a:t>
            </a:r>
            <a:r>
              <a:rPr dirty="0" err="1"/>
              <a:t>résultats</a:t>
            </a:r>
            <a:r>
              <a:rPr dirty="0"/>
              <a:t> par </a:t>
            </a:r>
            <a:r>
              <a:rPr dirty="0" err="1"/>
              <a:t>comparaison</a:t>
            </a:r>
            <a:r>
              <a:rPr dirty="0"/>
              <a:t> avec données </a:t>
            </a:r>
            <a:r>
              <a:rPr dirty="0" err="1"/>
              <a:t>expérimentales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rPr dirty="0"/>
              <a:t>• </a:t>
            </a:r>
            <a:r>
              <a:rPr dirty="0" err="1"/>
              <a:t>Développer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interface </a:t>
            </a:r>
            <a:r>
              <a:rPr dirty="0" err="1"/>
              <a:t>utilisateur</a:t>
            </a:r>
            <a:r>
              <a:rPr dirty="0"/>
              <a:t> </a:t>
            </a:r>
            <a:r>
              <a:rPr dirty="0" err="1"/>
              <a:t>Streamlit</a:t>
            </a:r>
            <a:r>
              <a:rPr dirty="0"/>
              <a:t> pour simulations interactives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rPr dirty="0"/>
              <a:t>• </a:t>
            </a:r>
            <a:r>
              <a:rPr dirty="0" err="1"/>
              <a:t>Permettre</a:t>
            </a:r>
            <a:r>
              <a:rPr dirty="0"/>
              <a:t> </a:t>
            </a:r>
            <a:r>
              <a:rPr dirty="0" err="1"/>
              <a:t>l'exploration</a:t>
            </a:r>
            <a:r>
              <a:rPr dirty="0"/>
              <a:t> </a:t>
            </a:r>
            <a:r>
              <a:rPr dirty="0" err="1"/>
              <a:t>rapide</a:t>
            </a:r>
            <a:r>
              <a:rPr dirty="0"/>
              <a:t> de </a:t>
            </a:r>
            <a:r>
              <a:rPr dirty="0" err="1"/>
              <a:t>l'espace</a:t>
            </a:r>
            <a:r>
              <a:rPr dirty="0"/>
              <a:t> </a:t>
            </a:r>
            <a:r>
              <a:rPr dirty="0" err="1"/>
              <a:t>paramétrique</a:t>
            </a:r>
            <a:r>
              <a:rPr dirty="0"/>
              <a:t> sans </a:t>
            </a:r>
            <a:r>
              <a:rPr dirty="0" err="1"/>
              <a:t>nouvelles</a:t>
            </a:r>
            <a:r>
              <a:rPr dirty="0"/>
              <a:t> simulations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2BC"/>
                </a:solidFill>
              </a:defRPr>
            </a:pPr>
            <a:r>
              <a:t>Physique du système - Vue d'ensemble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31.10.25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6400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C00000"/>
                </a:solidFill>
              </a:defRPr>
            </a:pPr>
            <a:r>
              <a:t>Confidential. Not to be reproduced without the permission of Linxens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200">
                <a:latin typeface="Courier New"/>
              </a:defRPr>
            </a:pPr>
            <a:r>
              <a:t>CONFIGURATION DU SYSTÈME</a:t>
            </a:r>
          </a:p>
          <a:p>
            <a:pPr>
              <a:spcAft>
                <a:spcPts val="300"/>
              </a:spcAft>
              <a:defRPr sz="1200">
                <a:latin typeface="Courier New"/>
              </a:defRPr>
            </a:pPr>
            <a:endParaRPr/>
          </a:p>
          <a:p>
            <a:pPr>
              <a:spcAft>
                <a:spcPts val="300"/>
              </a:spcAft>
              <a:defRPr sz="1200">
                <a:latin typeface="Courier New"/>
              </a:defRPr>
            </a:pPr>
            <a:r>
              <a:t>    ↓  Seringue (Ø 200-350 µm)</a:t>
            </a:r>
          </a:p>
          <a:p>
            <a:pPr>
              <a:spcAft>
                <a:spcPts val="300"/>
              </a:spcAft>
              <a:defRPr sz="1200">
                <a:latin typeface="Courier New"/>
              </a:defRPr>
            </a:pPr>
            <a:r>
              <a:t>    │  </a:t>
            </a:r>
          </a:p>
          <a:p>
            <a:pPr>
              <a:spcAft>
                <a:spcPts val="300"/>
              </a:spcAft>
              <a:defRPr sz="1200">
                <a:latin typeface="Courier New"/>
              </a:defRPr>
            </a:pPr>
            <a:r>
              <a:t>    ├─ Gap: 30 µm</a:t>
            </a:r>
          </a:p>
          <a:p>
            <a:pPr>
              <a:spcAft>
                <a:spcPts val="300"/>
              </a:spcAft>
              <a:defRPr sz="1200">
                <a:latin typeface="Courier New"/>
              </a:defRPr>
            </a:pPr>
            <a:r>
              <a:t>    │</a:t>
            </a:r>
          </a:p>
          <a:p>
            <a:pPr>
              <a:spcAft>
                <a:spcPts val="300"/>
              </a:spcAft>
              <a:defRPr sz="1200">
                <a:latin typeface="Courier New"/>
              </a:defRPr>
            </a:pPr>
            <a:r>
              <a:t>    ┌─────────────┐</a:t>
            </a:r>
          </a:p>
          <a:p>
            <a:pPr>
              <a:spcAft>
                <a:spcPts val="300"/>
              </a:spcAft>
              <a:defRPr sz="1200">
                <a:latin typeface="Courier New"/>
              </a:defRPr>
            </a:pPr>
            <a:r>
              <a:t>    │   Puit      │ Ø 800-1500 µm</a:t>
            </a:r>
          </a:p>
          <a:p>
            <a:pPr>
              <a:spcAft>
                <a:spcPts val="300"/>
              </a:spcAft>
              <a:defRPr sz="1200">
                <a:latin typeface="Courier New"/>
              </a:defRPr>
            </a:pPr>
            <a:r>
              <a:t>    │   (h=128µm) │</a:t>
            </a:r>
          </a:p>
          <a:p>
            <a:pPr>
              <a:spcAft>
                <a:spcPts val="300"/>
              </a:spcAft>
              <a:defRPr sz="1200">
                <a:latin typeface="Courier New"/>
              </a:defRPr>
            </a:pPr>
            <a:r>
              <a:t>    └─────────────┘</a:t>
            </a:r>
          </a:p>
          <a:p>
            <a:pPr>
              <a:spcAft>
                <a:spcPts val="300"/>
              </a:spcAft>
              <a:defRPr sz="1200">
                <a:latin typeface="Courier New"/>
              </a:defRPr>
            </a:pPr>
            <a:r>
              <a:t>         OR</a:t>
            </a:r>
          </a:p>
          <a:p>
            <a:pPr>
              <a:spcAft>
                <a:spcPts val="300"/>
              </a:spcAft>
              <a:defRPr sz="1200">
                <a:latin typeface="Courier New"/>
              </a:defRPr>
            </a:pPr>
            <a:endParaRPr/>
          </a:p>
          <a:p>
            <a:pPr>
              <a:spcAft>
                <a:spcPts val="300"/>
              </a:spcAft>
              <a:defRPr sz="1200">
                <a:latin typeface="Courier New"/>
              </a:defRPr>
            </a:pPr>
            <a:r>
              <a:t>Fluides:</a:t>
            </a:r>
          </a:p>
          <a:p>
            <a:pPr>
              <a:spcAft>
                <a:spcPts val="300"/>
              </a:spcAft>
              <a:defRPr sz="1200">
                <a:latin typeface="Courier New"/>
              </a:defRPr>
            </a:pPr>
            <a:r>
              <a:t>• Phase 1: Encre Ag/AgCl (ρ=3000 kg/m³)</a:t>
            </a:r>
          </a:p>
          <a:p>
            <a:pPr>
              <a:spcAft>
                <a:spcPts val="300"/>
              </a:spcAft>
              <a:defRPr sz="1200">
                <a:latin typeface="Courier New"/>
              </a:defRPr>
            </a:pPr>
            <a:r>
              <a:t>• Phase 2: Air ambiant (ρ=1.2 kg/m³)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3931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72BC"/>
                </a:solidFill>
              </a:defRPr>
            </a:pPr>
            <a:r>
              <a:t>APPROCHE PHYSIQUE</a:t>
            </a:r>
          </a:p>
          <a:p>
            <a:pPr>
              <a:spcAft>
                <a:spcPts val="400"/>
              </a:spcAft>
              <a:defRPr sz="1100"/>
            </a:pPr>
            <a:r>
              <a:t>• Simulation diphasique (méthode Phase-Field)</a:t>
            </a:r>
          </a:p>
          <a:p>
            <a:pPr>
              <a:spcAft>
                <a:spcPts val="400"/>
              </a:spcAft>
              <a:defRPr sz="1100"/>
            </a:pPr>
            <a:r>
              <a:t>• Écoulement laminaire incompressible</a:t>
            </a:r>
          </a:p>
          <a:p>
            <a:pPr>
              <a:spcAft>
                <a:spcPts val="400"/>
              </a:spcAft>
              <a:defRPr sz="1100"/>
            </a:pPr>
            <a:r>
              <a:t>• Rhéologie non-newtonienne (Carreau)</a:t>
            </a:r>
          </a:p>
          <a:p>
            <a:pPr>
              <a:spcAft>
                <a:spcPts val="400"/>
              </a:spcAft>
              <a:defRPr sz="1100"/>
            </a:pPr>
            <a:r>
              <a:t>• Tension de surface σ = 40 mN/m</a:t>
            </a:r>
          </a:p>
          <a:p>
            <a:pPr>
              <a:spcAft>
                <a:spcPts val="400"/>
              </a:spcAft>
              <a:defRPr sz="1300" b="1">
                <a:solidFill>
                  <a:srgbClr val="0072BC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 b="1">
                <a:solidFill>
                  <a:srgbClr val="0072BC"/>
                </a:solidFill>
              </a:defRPr>
            </a:pPr>
            <a:r>
              <a:t>RÉGIMES CARACTÉRISTIQUES</a:t>
            </a:r>
          </a:p>
          <a:p>
            <a:pPr>
              <a:spcAft>
                <a:spcPts val="400"/>
              </a:spcAft>
              <a:defRPr sz="1100"/>
            </a:pPr>
            <a:r>
              <a:t>• Reynolds Re ≈ 0.1-10 (laminaire)</a:t>
            </a:r>
          </a:p>
          <a:p>
            <a:pPr>
              <a:spcAft>
                <a:spcPts val="400"/>
              </a:spcAft>
              <a:defRPr sz="1100"/>
            </a:pPr>
            <a:r>
              <a:t>• Capillaire Ca ≈ 0.001-0.01 (capillarité dominante)</a:t>
            </a:r>
          </a:p>
          <a:p>
            <a:pPr>
              <a:spcAft>
                <a:spcPts val="400"/>
              </a:spcAft>
              <a:defRPr sz="1100"/>
            </a:pPr>
            <a:r>
              <a:t>• Weber We ≈ 0.0001 (tension surface importante)</a:t>
            </a:r>
          </a:p>
          <a:p>
            <a:pPr>
              <a:spcAft>
                <a:spcPts val="400"/>
              </a:spcAft>
              <a:defRPr sz="1100"/>
            </a:pPr>
            <a:r>
              <a:t>• Bond Bo &lt;&lt; 1 (gravité négligeable)</a:t>
            </a:r>
          </a:p>
          <a:p>
            <a:pPr>
              <a:spcAft>
                <a:spcPts val="400"/>
              </a:spcAft>
              <a:defRPr sz="1300" b="1">
                <a:solidFill>
                  <a:srgbClr val="0072BC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 b="1">
                <a:solidFill>
                  <a:srgbClr val="0072BC"/>
                </a:solidFill>
              </a:defRPr>
            </a:pPr>
            <a:r>
              <a:t>ÉCHELLES SPATIALES</a:t>
            </a:r>
          </a:p>
          <a:p>
            <a:pPr>
              <a:spcAft>
                <a:spcPts val="400"/>
              </a:spcAft>
              <a:defRPr sz="1100"/>
            </a:pPr>
            <a:r>
              <a:t>• Diamètres: 200-1500 µm</a:t>
            </a:r>
          </a:p>
          <a:p>
            <a:pPr>
              <a:spcAft>
                <a:spcPts val="400"/>
              </a:spcAft>
              <a:defRPr sz="1100"/>
            </a:pPr>
            <a:r>
              <a:t>• Hauteurs: 30-130 µm</a:t>
            </a:r>
          </a:p>
          <a:p>
            <a:pPr>
              <a:spcAft>
                <a:spcPts val="400"/>
              </a:spcAft>
              <a:defRPr sz="1100"/>
            </a:pPr>
            <a:r>
              <a:t>• Épaisseur interface: 5 µm</a:t>
            </a:r>
          </a:p>
          <a:p>
            <a:pPr>
              <a:spcAft>
                <a:spcPts val="400"/>
              </a:spcAft>
              <a:defRPr sz="1300" b="1">
                <a:solidFill>
                  <a:srgbClr val="0072BC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 b="1">
                <a:solidFill>
                  <a:srgbClr val="0072BC"/>
                </a:solidFill>
              </a:defRPr>
            </a:pPr>
            <a:r>
              <a:t>ÉCHELLES TEMPORELLES</a:t>
            </a:r>
          </a:p>
          <a:p>
            <a:pPr>
              <a:spcAft>
                <a:spcPts val="400"/>
              </a:spcAft>
              <a:defRPr sz="1100"/>
            </a:pPr>
            <a:r>
              <a:t>• Dispense: 40-100 ms</a:t>
            </a:r>
          </a:p>
          <a:p>
            <a:pPr>
              <a:spcAft>
                <a:spcPts val="400"/>
              </a:spcAft>
              <a:defRPr sz="1100"/>
            </a:pPr>
            <a:r>
              <a:t>• Pas de temps: 0.1 ms</a:t>
            </a:r>
          </a:p>
          <a:p>
            <a:pPr>
              <a:spcAft>
                <a:spcPts val="400"/>
              </a:spcAft>
              <a:defRPr sz="1100"/>
            </a:pPr>
            <a:r>
              <a:t>• Temps total: 50-100 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2BC"/>
                </a:solidFill>
              </a:defRPr>
            </a:pPr>
            <a:r>
              <a:rPr dirty="0" err="1"/>
              <a:t>Modélisation</a:t>
            </a:r>
            <a:r>
              <a:rPr dirty="0"/>
              <a:t> </a:t>
            </a:r>
            <a:r>
              <a:rPr dirty="0" err="1"/>
              <a:t>mathématique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27432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31.10.25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6400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C00000"/>
                </a:solidFill>
              </a:defRPr>
            </a:pPr>
            <a:r>
              <a:t>Confidential. Not to be reproduced without the permission of Linxens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54920"/>
            <a:ext cx="8736515" cy="4970591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0072BC"/>
                </a:solidFill>
              </a:defRPr>
            </a:pPr>
            <a:r>
              <a:rPr dirty="0"/>
              <a:t>ÉQUATIONS GOUVERNANTES</a:t>
            </a:r>
          </a:p>
          <a:p>
            <a:pPr>
              <a:spcAft>
                <a:spcPts val="500"/>
              </a:spcAft>
              <a:defRPr sz="1200"/>
            </a:pPr>
            <a:endParaRPr dirty="0"/>
          </a:p>
          <a:p>
            <a:pPr>
              <a:spcAft>
                <a:spcPts val="500"/>
              </a:spcAft>
              <a:defRPr sz="1400" b="1">
                <a:solidFill>
                  <a:srgbClr val="0072BC"/>
                </a:solidFill>
              </a:defRPr>
            </a:pPr>
            <a:r>
              <a:rPr dirty="0"/>
              <a:t>1. Navier-Stokes (conservation de la masse et </a:t>
            </a:r>
            <a:endParaRPr lang="fr-FR" dirty="0"/>
          </a:p>
          <a:p>
            <a:pPr>
              <a:spcAft>
                <a:spcPts val="500"/>
              </a:spcAft>
              <a:defRPr sz="1400" b="1">
                <a:solidFill>
                  <a:srgbClr val="0072BC"/>
                </a:solidFill>
              </a:defRPr>
            </a:pPr>
            <a:r>
              <a:rPr dirty="0" err="1"/>
              <a:t>quantité</a:t>
            </a:r>
            <a:r>
              <a:rPr dirty="0"/>
              <a:t> de </a:t>
            </a:r>
            <a:r>
              <a:rPr dirty="0" err="1"/>
              <a:t>mouvement</a:t>
            </a:r>
            <a:r>
              <a:rPr dirty="0"/>
              <a:t>)</a:t>
            </a:r>
          </a:p>
          <a:p>
            <a:pPr>
              <a:spcAft>
                <a:spcPts val="500"/>
              </a:spcAft>
              <a:defRPr sz="1200"/>
            </a:pPr>
            <a:r>
              <a:rPr dirty="0"/>
              <a:t>   ∇·v = 0  (</a:t>
            </a:r>
            <a:r>
              <a:rPr dirty="0" err="1"/>
              <a:t>incompressibilité</a:t>
            </a:r>
            <a:r>
              <a:rPr dirty="0"/>
              <a:t>)</a:t>
            </a:r>
          </a:p>
          <a:p>
            <a:pPr>
              <a:spcAft>
                <a:spcPts val="500"/>
              </a:spcAft>
              <a:defRPr sz="1200"/>
            </a:pPr>
            <a:r>
              <a:rPr dirty="0"/>
              <a:t>   ρ(∂v/∂t + v·∇v) = -∇p + ∇·τ + </a:t>
            </a:r>
            <a:r>
              <a:rPr dirty="0" err="1"/>
              <a:t>ρg</a:t>
            </a:r>
            <a:r>
              <a:rPr dirty="0"/>
              <a:t> + </a:t>
            </a:r>
            <a:r>
              <a:rPr dirty="0" err="1"/>
              <a:t>F_σ</a:t>
            </a:r>
            <a:endParaRPr dirty="0"/>
          </a:p>
          <a:p>
            <a:pPr>
              <a:spcAft>
                <a:spcPts val="500"/>
              </a:spcAft>
              <a:defRPr sz="1200"/>
            </a:pPr>
            <a:endParaRPr dirty="0"/>
          </a:p>
          <a:p>
            <a:pPr>
              <a:spcAft>
                <a:spcPts val="500"/>
              </a:spcAft>
              <a:defRPr sz="1400" b="1">
                <a:solidFill>
                  <a:srgbClr val="0072BC"/>
                </a:solidFill>
              </a:defRPr>
            </a:pPr>
            <a:r>
              <a:rPr dirty="0"/>
              <a:t>2. </a:t>
            </a:r>
            <a:r>
              <a:rPr dirty="0" err="1"/>
              <a:t>Rhéologie</a:t>
            </a:r>
            <a:r>
              <a:rPr dirty="0"/>
              <a:t> de Carreau (</a:t>
            </a:r>
            <a:r>
              <a:rPr dirty="0" err="1"/>
              <a:t>fluide</a:t>
            </a:r>
            <a:r>
              <a:rPr dirty="0"/>
              <a:t> </a:t>
            </a:r>
            <a:r>
              <a:rPr dirty="0" err="1"/>
              <a:t>rhéofluidifiant</a:t>
            </a:r>
            <a:r>
              <a:rPr dirty="0"/>
              <a:t>)</a:t>
            </a:r>
          </a:p>
          <a:p>
            <a:pPr>
              <a:spcAft>
                <a:spcPts val="500"/>
              </a:spcAft>
              <a:defRPr sz="1200"/>
            </a:pPr>
            <a:r>
              <a:rPr dirty="0"/>
              <a:t>   η(γ̇) = η_∞ + (η₀ - η_∞)[1 + (</a:t>
            </a:r>
            <a:r>
              <a:rPr dirty="0" err="1"/>
              <a:t>λγ</a:t>
            </a:r>
            <a:r>
              <a:rPr dirty="0"/>
              <a:t>̇)²]^((n-1)/2)</a:t>
            </a:r>
          </a:p>
          <a:p>
            <a:pPr>
              <a:spcAft>
                <a:spcPts val="500"/>
              </a:spcAft>
              <a:defRPr sz="1200"/>
            </a:pPr>
            <a:r>
              <a:rPr dirty="0"/>
              <a:t>   Avec: η₀=0.5-5 </a:t>
            </a:r>
            <a:r>
              <a:rPr dirty="0" err="1"/>
              <a:t>Pa·s</a:t>
            </a:r>
            <a:r>
              <a:rPr dirty="0"/>
              <a:t>, η_∞=0.05 </a:t>
            </a:r>
            <a:r>
              <a:rPr dirty="0" err="1"/>
              <a:t>Pa·s</a:t>
            </a:r>
            <a:r>
              <a:rPr dirty="0"/>
              <a:t>, λ=0.15 s, n=0.7</a:t>
            </a:r>
          </a:p>
          <a:p>
            <a:pPr>
              <a:spcAft>
                <a:spcPts val="500"/>
              </a:spcAft>
              <a:defRPr sz="1200"/>
            </a:pPr>
            <a:endParaRPr dirty="0"/>
          </a:p>
          <a:p>
            <a:pPr>
              <a:spcAft>
                <a:spcPts val="500"/>
              </a:spcAft>
              <a:defRPr sz="1400" b="1">
                <a:solidFill>
                  <a:srgbClr val="0072BC"/>
                </a:solidFill>
              </a:defRPr>
            </a:pPr>
            <a:r>
              <a:rPr dirty="0"/>
              <a:t>3. Transport </a:t>
            </a:r>
            <a:r>
              <a:rPr dirty="0" err="1"/>
              <a:t>d'interface</a:t>
            </a:r>
            <a:r>
              <a:rPr dirty="0"/>
              <a:t> (Phase-Field)</a:t>
            </a:r>
          </a:p>
          <a:p>
            <a:pPr>
              <a:spcAft>
                <a:spcPts val="500"/>
              </a:spcAft>
              <a:defRPr sz="1200"/>
            </a:pPr>
            <a:r>
              <a:rPr dirty="0"/>
              <a:t>   ∂φ/∂t + v·∇φ = γ∇·[</a:t>
            </a:r>
            <a:r>
              <a:rPr dirty="0" err="1"/>
              <a:t>ε∇φ</a:t>
            </a:r>
            <a:r>
              <a:rPr dirty="0"/>
              <a:t> - φ(1-φ²)n]</a:t>
            </a:r>
          </a:p>
          <a:p>
            <a:pPr>
              <a:spcAft>
                <a:spcPts val="500"/>
              </a:spcAft>
              <a:defRPr sz="1200"/>
            </a:pPr>
            <a:r>
              <a:rPr dirty="0"/>
              <a:t>   Avec: ε=5 µm (</a:t>
            </a:r>
            <a:r>
              <a:rPr dirty="0" err="1"/>
              <a:t>épaisseur</a:t>
            </a:r>
            <a:r>
              <a:rPr dirty="0"/>
              <a:t> interface), γ=1 (</a:t>
            </a:r>
            <a:r>
              <a:rPr dirty="0" err="1"/>
              <a:t>mobilité</a:t>
            </a:r>
            <a:r>
              <a:rPr dirty="0"/>
              <a:t>)</a:t>
            </a:r>
          </a:p>
          <a:p>
            <a:pPr>
              <a:spcAft>
                <a:spcPts val="500"/>
              </a:spcAft>
              <a:defRPr sz="1200"/>
            </a:pPr>
            <a:endParaRPr dirty="0"/>
          </a:p>
          <a:p>
            <a:pPr>
              <a:spcAft>
                <a:spcPts val="500"/>
              </a:spcAft>
              <a:defRPr sz="1400" b="1">
                <a:solidFill>
                  <a:srgbClr val="0072BC"/>
                </a:solidFill>
              </a:defRPr>
            </a:pPr>
            <a:r>
              <a:rPr dirty="0"/>
              <a:t>4. Tension de surface</a:t>
            </a:r>
          </a:p>
          <a:p>
            <a:pPr>
              <a:spcAft>
                <a:spcPts val="500"/>
              </a:spcAft>
              <a:defRPr sz="1200"/>
            </a:pPr>
            <a:r>
              <a:rPr dirty="0"/>
              <a:t>   </a:t>
            </a:r>
            <a:r>
              <a:rPr dirty="0" err="1"/>
              <a:t>F_σ</a:t>
            </a:r>
            <a:r>
              <a:rPr dirty="0"/>
              <a:t> = </a:t>
            </a:r>
            <a:r>
              <a:rPr dirty="0" err="1"/>
              <a:t>σκδ</a:t>
            </a:r>
            <a:r>
              <a:rPr dirty="0"/>
              <a:t>(φ)n  avec κ = ∇·n (</a:t>
            </a:r>
            <a:r>
              <a:rPr dirty="0" err="1"/>
              <a:t>courbure</a:t>
            </a:r>
            <a:r>
              <a:rPr dirty="0"/>
              <a:t>)</a:t>
            </a:r>
          </a:p>
          <a:p>
            <a:pPr>
              <a:spcAft>
                <a:spcPts val="500"/>
              </a:spcAft>
              <a:defRPr sz="1200"/>
            </a:pPr>
            <a:endParaRPr dirty="0"/>
          </a:p>
          <a:p>
            <a:pPr>
              <a:spcAft>
                <a:spcPts val="500"/>
              </a:spcAft>
              <a:defRPr sz="1400" b="1">
                <a:solidFill>
                  <a:srgbClr val="0072BC"/>
                </a:solidFill>
              </a:defRPr>
            </a:pPr>
            <a:endParaRPr lang="fr-FR" dirty="0"/>
          </a:p>
          <a:p>
            <a:pPr>
              <a:spcAft>
                <a:spcPts val="500"/>
              </a:spcAft>
              <a:defRPr sz="1400" b="1">
                <a:solidFill>
                  <a:srgbClr val="0072BC"/>
                </a:solidFill>
              </a:defRPr>
            </a:pPr>
            <a:endParaRPr lang="fr-FR" dirty="0"/>
          </a:p>
          <a:p>
            <a:pPr>
              <a:spcAft>
                <a:spcPts val="500"/>
              </a:spcAft>
              <a:defRPr sz="1400" b="1">
                <a:solidFill>
                  <a:srgbClr val="0072BC"/>
                </a:solidFill>
              </a:defRPr>
            </a:pPr>
            <a:r>
              <a:rPr dirty="0"/>
              <a:t>CONDITIONS AUX LIMITES CLÉS</a:t>
            </a:r>
          </a:p>
          <a:p>
            <a:pPr>
              <a:spcAft>
                <a:spcPts val="500"/>
              </a:spcAft>
              <a:defRPr sz="1200"/>
            </a:pPr>
            <a:r>
              <a:rPr dirty="0"/>
              <a:t>• </a:t>
            </a:r>
            <a:r>
              <a:rPr dirty="0" err="1"/>
              <a:t>Parois</a:t>
            </a:r>
            <a:r>
              <a:rPr dirty="0"/>
              <a:t>: Non-</a:t>
            </a:r>
            <a:r>
              <a:rPr dirty="0" err="1"/>
              <a:t>glissement</a:t>
            </a:r>
            <a:r>
              <a:rPr dirty="0"/>
              <a:t> (v = 0)</a:t>
            </a:r>
          </a:p>
          <a:p>
            <a:pPr>
              <a:spcAft>
                <a:spcPts val="500"/>
              </a:spcAft>
              <a:defRPr sz="1200"/>
            </a:pPr>
            <a:r>
              <a:rPr dirty="0"/>
              <a:t>• Angle de contact: </a:t>
            </a:r>
            <a:r>
              <a:rPr dirty="0" err="1"/>
              <a:t>n_w</a:t>
            </a:r>
            <a:r>
              <a:rPr dirty="0"/>
              <a:t>·∇φ = -(1/ε)cos(θ)  </a:t>
            </a:r>
          </a:p>
          <a:p>
            <a:pPr>
              <a:spcAft>
                <a:spcPts val="500"/>
              </a:spcAft>
              <a:defRPr sz="1200"/>
            </a:pPr>
            <a:r>
              <a:rPr dirty="0"/>
              <a:t>  → </a:t>
            </a:r>
            <a:r>
              <a:rPr dirty="0" err="1"/>
              <a:t>θ_or</a:t>
            </a:r>
            <a:r>
              <a:rPr dirty="0"/>
              <a:t> = 35-70°, </a:t>
            </a:r>
            <a:r>
              <a:rPr dirty="0" err="1"/>
              <a:t>θ_wall</a:t>
            </a:r>
            <a:r>
              <a:rPr dirty="0"/>
              <a:t> = 35-90°</a:t>
            </a:r>
          </a:p>
          <a:p>
            <a:pPr>
              <a:spcAft>
                <a:spcPts val="500"/>
              </a:spcAft>
              <a:defRPr sz="1200"/>
            </a:pPr>
            <a:r>
              <a:rPr dirty="0"/>
              <a:t>• Entrée (</a:t>
            </a:r>
            <a:r>
              <a:rPr dirty="0" err="1"/>
              <a:t>seringue</a:t>
            </a:r>
            <a:r>
              <a:rPr dirty="0"/>
              <a:t>): v = 0.1 m/s, φ = 1 (</a:t>
            </a:r>
            <a:r>
              <a:rPr dirty="0" err="1"/>
              <a:t>encre</a:t>
            </a:r>
            <a:r>
              <a:rPr dirty="0"/>
              <a:t>)</a:t>
            </a:r>
          </a:p>
          <a:p>
            <a:pPr>
              <a:spcAft>
                <a:spcPts val="500"/>
              </a:spcAft>
              <a:defRPr sz="1200"/>
            </a:pPr>
            <a:r>
              <a:rPr dirty="0"/>
              <a:t>• Sortie: p = </a:t>
            </a:r>
            <a:r>
              <a:rPr dirty="0" err="1"/>
              <a:t>p_atm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16E01-7B32-0248-533D-8450E7618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7B3C5A-41AC-3C58-F4EA-619005EB7A8C}"/>
              </a:ext>
            </a:extLst>
          </p:cNvPr>
          <p:cNvSpPr txBox="1"/>
          <p:nvPr/>
        </p:nvSpPr>
        <p:spPr>
          <a:xfrm>
            <a:off x="457200" y="274320"/>
            <a:ext cx="9047670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2BC"/>
                </a:solidFill>
              </a:defRPr>
            </a:pPr>
            <a:r>
              <a:t>Équations de Navier-Stokes — Niveau Débutant</a:t>
            </a:r>
          </a:p>
          <a:p>
            <a:pPr>
              <a:defRPr sz="2800" b="1">
                <a:solidFill>
                  <a:srgbClr val="0072BC"/>
                </a:solidFill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248EF9-0F9A-40F6-6233-D4B5821ECD5F}"/>
              </a:ext>
            </a:extLst>
          </p:cNvPr>
          <p:cNvSpPr txBox="1"/>
          <p:nvPr/>
        </p:nvSpPr>
        <p:spPr>
          <a:xfrm>
            <a:off x="27432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31.10.25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30884A-A40D-AD7B-9E96-141F7E25E83E}"/>
              </a:ext>
            </a:extLst>
          </p:cNvPr>
          <p:cNvSpPr txBox="1"/>
          <p:nvPr/>
        </p:nvSpPr>
        <p:spPr>
          <a:xfrm>
            <a:off x="5029200" y="6400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C00000"/>
                </a:solidFill>
              </a:defRPr>
            </a:pPr>
            <a:r>
              <a:t>Confidential. Not to be reproduced without the permission of Linxens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6464"/>
                </a:solidFill>
              </a:defRPr>
            </a:pPr>
            <a:r>
              <a:t>Comprendre le mouvement des fluides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43800"/>
            <a:ext cx="8412480" cy="3780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dirty="0" err="1"/>
              <a:t>L'idée</a:t>
            </a:r>
            <a:r>
              <a:rPr dirty="0"/>
              <a:t> simple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</a:t>
            </a:r>
            <a:r>
              <a:rPr dirty="0" err="1"/>
              <a:t>Imaginez</a:t>
            </a:r>
            <a:r>
              <a:rPr dirty="0"/>
              <a:t> </a:t>
            </a:r>
            <a:r>
              <a:rPr dirty="0" err="1"/>
              <a:t>l'eau</a:t>
            </a:r>
            <a:r>
              <a:rPr dirty="0"/>
              <a:t> qui </a:t>
            </a:r>
            <a:r>
              <a:rPr dirty="0" err="1"/>
              <a:t>coule</a:t>
            </a:r>
            <a:r>
              <a:rPr dirty="0"/>
              <a:t> dans un </a:t>
            </a:r>
            <a:r>
              <a:rPr dirty="0" err="1"/>
              <a:t>tuyau</a:t>
            </a:r>
            <a:r>
              <a:rPr dirty="0"/>
              <a:t> de </a:t>
            </a:r>
            <a:r>
              <a:rPr dirty="0" err="1"/>
              <a:t>jardin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</a:t>
            </a:r>
            <a:r>
              <a:rPr dirty="0" err="1"/>
              <a:t>L'équation</a:t>
            </a:r>
            <a:r>
              <a:rPr dirty="0"/>
              <a:t> de Navier-Stokes </a:t>
            </a:r>
            <a:r>
              <a:rPr dirty="0" err="1"/>
              <a:t>décrit</a:t>
            </a:r>
            <a:r>
              <a:rPr dirty="0"/>
              <a:t> COMMENT et POURQUOI le </a:t>
            </a:r>
            <a:r>
              <a:rPr dirty="0" err="1"/>
              <a:t>fluide</a:t>
            </a:r>
            <a:r>
              <a:rPr dirty="0"/>
              <a:t> </a:t>
            </a:r>
            <a:r>
              <a:rPr dirty="0" err="1"/>
              <a:t>bouge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</a:t>
            </a:r>
            <a:r>
              <a:rPr dirty="0" err="1"/>
              <a:t>C'est</a:t>
            </a:r>
            <a:r>
              <a:rPr dirty="0"/>
              <a:t> la "</a:t>
            </a:r>
            <a:r>
              <a:rPr dirty="0" err="1"/>
              <a:t>loi</a:t>
            </a:r>
            <a:r>
              <a:rPr dirty="0"/>
              <a:t> de Newton" </a:t>
            </a:r>
            <a:r>
              <a:rPr dirty="0" err="1"/>
              <a:t>appliquée</a:t>
            </a:r>
            <a:r>
              <a:rPr dirty="0"/>
              <a:t> aux </a:t>
            </a:r>
            <a:r>
              <a:rPr dirty="0" err="1"/>
              <a:t>liquides</a:t>
            </a:r>
            <a:r>
              <a:rPr dirty="0"/>
              <a:t> et </a:t>
            </a:r>
            <a:r>
              <a:rPr dirty="0" err="1"/>
              <a:t>gaz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dirty="0"/>
              <a:t>Conservation de la masse : ∇·v = 0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Ce qui entre = Ce qui sort (pas de </a:t>
            </a:r>
            <a:r>
              <a:rPr dirty="0" err="1"/>
              <a:t>création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disparition</a:t>
            </a:r>
            <a:r>
              <a:rPr dirty="0"/>
              <a:t> de matière)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</a:t>
            </a:r>
            <a:r>
              <a:rPr dirty="0" err="1"/>
              <a:t>Analogie</a:t>
            </a:r>
            <a:r>
              <a:rPr dirty="0"/>
              <a:t> : </a:t>
            </a:r>
            <a:r>
              <a:rPr dirty="0" err="1"/>
              <a:t>L'eau</a:t>
            </a:r>
            <a:r>
              <a:rPr dirty="0"/>
              <a:t> dans un </a:t>
            </a:r>
            <a:r>
              <a:rPr dirty="0" err="1"/>
              <a:t>tuyau</a:t>
            </a:r>
            <a:r>
              <a:rPr dirty="0"/>
              <a:t> ne </a:t>
            </a:r>
            <a:r>
              <a:rPr dirty="0" err="1"/>
              <a:t>peut</a:t>
            </a:r>
            <a:r>
              <a:rPr dirty="0"/>
              <a:t> pas "</a:t>
            </a:r>
            <a:r>
              <a:rPr dirty="0" err="1"/>
              <a:t>disparaître</a:t>
            </a:r>
            <a:r>
              <a:rPr dirty="0"/>
              <a:t>" </a:t>
            </a:r>
            <a:r>
              <a:rPr dirty="0" err="1"/>
              <a:t>en</a:t>
            </a:r>
            <a:r>
              <a:rPr dirty="0"/>
              <a:t> route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Le </a:t>
            </a:r>
            <a:r>
              <a:rPr dirty="0" err="1"/>
              <a:t>fluide</a:t>
            </a:r>
            <a:r>
              <a:rPr dirty="0"/>
              <a:t> est incompressible (volume constant)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dirty="0"/>
              <a:t>Conservation de </a:t>
            </a:r>
            <a:r>
              <a:rPr dirty="0" err="1"/>
              <a:t>quantité</a:t>
            </a:r>
            <a:r>
              <a:rPr dirty="0"/>
              <a:t> de </a:t>
            </a:r>
            <a:r>
              <a:rPr dirty="0" err="1"/>
              <a:t>mouvement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Somme des forces = Masse × </a:t>
            </a:r>
            <a:r>
              <a:rPr dirty="0" err="1"/>
              <a:t>Accélération</a:t>
            </a:r>
            <a:r>
              <a:rPr dirty="0"/>
              <a:t> (</a:t>
            </a:r>
            <a:r>
              <a:rPr dirty="0" err="1"/>
              <a:t>comme</a:t>
            </a:r>
            <a:r>
              <a:rPr dirty="0"/>
              <a:t> F = ma)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Forces </a:t>
            </a:r>
            <a:r>
              <a:rPr dirty="0" err="1"/>
              <a:t>en</a:t>
            </a:r>
            <a:r>
              <a:rPr dirty="0"/>
              <a:t> jeu : pression, </a:t>
            </a:r>
            <a:r>
              <a:rPr dirty="0" err="1"/>
              <a:t>frottements</a:t>
            </a:r>
            <a:r>
              <a:rPr dirty="0"/>
              <a:t> </a:t>
            </a:r>
            <a:r>
              <a:rPr dirty="0" err="1"/>
              <a:t>visqueux</a:t>
            </a:r>
            <a:r>
              <a:rPr dirty="0"/>
              <a:t>, </a:t>
            </a:r>
            <a:r>
              <a:rPr dirty="0" err="1"/>
              <a:t>gravité</a:t>
            </a:r>
            <a:r>
              <a:rPr dirty="0"/>
              <a:t>, tension de surface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Le </a:t>
            </a:r>
            <a:r>
              <a:rPr dirty="0" err="1"/>
              <a:t>fluide</a:t>
            </a:r>
            <a:r>
              <a:rPr dirty="0"/>
              <a:t> </a:t>
            </a:r>
            <a:r>
              <a:rPr dirty="0" err="1"/>
              <a:t>accélère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où</a:t>
            </a:r>
            <a:r>
              <a:rPr dirty="0"/>
              <a:t> les forces le </a:t>
            </a:r>
            <a:r>
              <a:rPr dirty="0" err="1"/>
              <a:t>poussent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dirty="0"/>
              <a:t>Dans </a:t>
            </a:r>
            <a:r>
              <a:rPr dirty="0" err="1"/>
              <a:t>notre</a:t>
            </a:r>
            <a:r>
              <a:rPr dirty="0"/>
              <a:t> </a:t>
            </a:r>
            <a:r>
              <a:rPr dirty="0" err="1"/>
              <a:t>cas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</a:t>
            </a:r>
            <a:r>
              <a:rPr dirty="0" err="1"/>
              <a:t>L'encre</a:t>
            </a:r>
            <a:r>
              <a:rPr dirty="0"/>
              <a:t> Ag/AgCl est </a:t>
            </a:r>
            <a:r>
              <a:rPr dirty="0" err="1"/>
              <a:t>poussée</a:t>
            </a:r>
            <a:r>
              <a:rPr dirty="0"/>
              <a:t> par la </a:t>
            </a:r>
            <a:r>
              <a:rPr dirty="0" err="1"/>
              <a:t>seringue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Elle </a:t>
            </a:r>
            <a:r>
              <a:rPr dirty="0" err="1"/>
              <a:t>frotte</a:t>
            </a:r>
            <a:r>
              <a:rPr dirty="0"/>
              <a:t> </a:t>
            </a:r>
            <a:r>
              <a:rPr dirty="0" err="1"/>
              <a:t>contre</a:t>
            </a:r>
            <a:r>
              <a:rPr dirty="0"/>
              <a:t> les </a:t>
            </a:r>
            <a:r>
              <a:rPr dirty="0" err="1"/>
              <a:t>parois</a:t>
            </a:r>
            <a:r>
              <a:rPr dirty="0"/>
              <a:t> du </a:t>
            </a:r>
            <a:r>
              <a:rPr dirty="0" err="1"/>
              <a:t>puit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La tension de surface la </a:t>
            </a:r>
            <a:r>
              <a:rPr dirty="0" err="1"/>
              <a:t>maintient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forme</a:t>
            </a:r>
            <a:r>
              <a:rPr dirty="0"/>
              <a:t> de goutte</a:t>
            </a:r>
          </a:p>
        </p:txBody>
      </p:sp>
    </p:spTree>
    <p:extLst>
      <p:ext uri="{BB962C8B-B14F-4D97-AF65-F5344CB8AC3E}">
        <p14:creationId xmlns:p14="http://schemas.microsoft.com/office/powerpoint/2010/main" val="72395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Équations de Navier-Stokes — Niveau Expert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6464"/>
                </a:solidFill>
              </a:defRPr>
            </a:pPr>
            <a:r>
              <a:t>Formulation mathématique complète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412480" cy="5303520"/>
          </a:xfrm>
          <a:prstGeom prst="rect">
            <a:avLst/>
          </a:prstGeom>
          <a:noFill/>
        </p:spPr>
        <p:txBody>
          <a:bodyPr wrap="square" numCol="2">
            <a:no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sz="1600" dirty="0" err="1"/>
              <a:t>Équation</a:t>
            </a:r>
            <a:r>
              <a:rPr sz="1600" dirty="0"/>
              <a:t> de </a:t>
            </a:r>
            <a:r>
              <a:rPr sz="1600" dirty="0" err="1"/>
              <a:t>continuité</a:t>
            </a:r>
            <a:r>
              <a:rPr sz="1600" dirty="0"/>
              <a:t> (</a:t>
            </a:r>
            <a:r>
              <a:rPr sz="1600" dirty="0" err="1"/>
              <a:t>incompressibilité</a:t>
            </a:r>
            <a:r>
              <a:rPr sz="1600"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sz="1600" dirty="0"/>
              <a:t>• ∇·v = 0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sz="1600" dirty="0"/>
              <a:t>• ∇· : </a:t>
            </a:r>
            <a:r>
              <a:rPr sz="1600" dirty="0" err="1"/>
              <a:t>opérateur</a:t>
            </a:r>
            <a:r>
              <a:rPr sz="1600" dirty="0"/>
              <a:t> divergence = ∂/∂x + ∂/∂y + ∂/∂z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sz="1600" dirty="0"/>
              <a:t>• v : </a:t>
            </a:r>
            <a:r>
              <a:rPr sz="1600" dirty="0" err="1"/>
              <a:t>vecteur</a:t>
            </a:r>
            <a:r>
              <a:rPr sz="1600" dirty="0"/>
              <a:t> </a:t>
            </a:r>
            <a:r>
              <a:rPr sz="1600" dirty="0" err="1"/>
              <a:t>vitesse</a:t>
            </a:r>
            <a:r>
              <a:rPr sz="1600" dirty="0"/>
              <a:t> (u, v, w) </a:t>
            </a:r>
            <a:r>
              <a:rPr sz="1600" dirty="0" err="1"/>
              <a:t>en</a:t>
            </a:r>
            <a:r>
              <a:rPr sz="1600" dirty="0"/>
              <a:t> m/s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sz="1600" dirty="0"/>
              <a:t>• Signification : flux net </a:t>
            </a:r>
            <a:r>
              <a:rPr sz="1600" dirty="0" err="1"/>
              <a:t>nul</a:t>
            </a:r>
            <a:r>
              <a:rPr sz="1600" dirty="0"/>
              <a:t> → conservation du volume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endParaRPr lang="fr-FR" sz="1600" dirty="0"/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sz="1600" dirty="0" err="1"/>
              <a:t>Équation</a:t>
            </a:r>
            <a:r>
              <a:rPr sz="1600" dirty="0"/>
              <a:t> de </a:t>
            </a:r>
            <a:r>
              <a:rPr sz="1600" dirty="0" err="1"/>
              <a:t>quantité</a:t>
            </a:r>
            <a:r>
              <a:rPr sz="1600" dirty="0"/>
              <a:t> de </a:t>
            </a:r>
            <a:r>
              <a:rPr sz="1600" dirty="0" err="1"/>
              <a:t>mouvement</a:t>
            </a:r>
            <a:endParaRPr sz="1600"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sz="1600" dirty="0"/>
              <a:t>• ρ(∂v/∂t + v·∇v) = −∇p + ∇·τ + </a:t>
            </a:r>
            <a:r>
              <a:rPr sz="1600" dirty="0" err="1"/>
              <a:t>ρg</a:t>
            </a:r>
            <a:r>
              <a:rPr sz="1600" dirty="0"/>
              <a:t> + </a:t>
            </a:r>
            <a:r>
              <a:rPr sz="1600" dirty="0" err="1"/>
              <a:t>F_σ</a:t>
            </a:r>
            <a:endParaRPr sz="1600" dirty="0"/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endParaRPr lang="fr-FR" sz="1600" dirty="0"/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sz="1600" dirty="0" err="1"/>
              <a:t>Analyse</a:t>
            </a:r>
            <a:r>
              <a:rPr sz="1600" dirty="0"/>
              <a:t> </a:t>
            </a:r>
            <a:r>
              <a:rPr sz="1600" dirty="0" err="1"/>
              <a:t>terme</a:t>
            </a:r>
            <a:r>
              <a:rPr sz="1600" dirty="0"/>
              <a:t> par </a:t>
            </a:r>
            <a:r>
              <a:rPr sz="1600" dirty="0" err="1"/>
              <a:t>terme</a:t>
            </a:r>
            <a:endParaRPr sz="1600"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sz="1600" dirty="0"/>
              <a:t>• ρ(∂v/∂t) : </a:t>
            </a:r>
            <a:r>
              <a:rPr sz="1600" dirty="0" err="1"/>
              <a:t>Accélération</a:t>
            </a:r>
            <a:r>
              <a:rPr sz="1600" dirty="0"/>
              <a:t> locale (</a:t>
            </a:r>
            <a:r>
              <a:rPr sz="1600" dirty="0" err="1"/>
              <a:t>inertie</a:t>
            </a:r>
            <a:r>
              <a:rPr sz="1600" dirty="0"/>
              <a:t> </a:t>
            </a:r>
            <a:r>
              <a:rPr sz="1600" dirty="0" err="1"/>
              <a:t>temporelle</a:t>
            </a:r>
            <a:r>
              <a:rPr sz="1600"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sz="1600" dirty="0"/>
              <a:t>• ρ(v·∇v) : Terme </a:t>
            </a:r>
            <a:r>
              <a:rPr sz="1600" dirty="0" err="1"/>
              <a:t>convectif</a:t>
            </a:r>
            <a:r>
              <a:rPr sz="1600" dirty="0"/>
              <a:t> (advection non-</a:t>
            </a:r>
            <a:r>
              <a:rPr sz="1600" dirty="0" err="1"/>
              <a:t>linéaire</a:t>
            </a:r>
            <a:r>
              <a:rPr sz="1600"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sz="1600" dirty="0"/>
              <a:t>• −∇p : Gradient de pression (force </a:t>
            </a:r>
            <a:r>
              <a:rPr sz="1600" dirty="0" err="1"/>
              <a:t>motrice</a:t>
            </a:r>
            <a:r>
              <a:rPr sz="1600"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sz="1600" dirty="0"/>
              <a:t>• ∇·τ : Divergence du </a:t>
            </a:r>
            <a:r>
              <a:rPr sz="1600" dirty="0" err="1"/>
              <a:t>tenseur</a:t>
            </a:r>
            <a:r>
              <a:rPr sz="1600" dirty="0"/>
              <a:t> des </a:t>
            </a:r>
            <a:r>
              <a:rPr sz="1600" dirty="0" err="1"/>
              <a:t>contraintes</a:t>
            </a:r>
            <a:r>
              <a:rPr sz="1600" dirty="0"/>
              <a:t> </a:t>
            </a:r>
            <a:r>
              <a:rPr sz="1600" dirty="0" err="1"/>
              <a:t>visqueuses</a:t>
            </a:r>
            <a:endParaRPr sz="1600"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sz="1600" dirty="0"/>
              <a:t>• </a:t>
            </a:r>
            <a:r>
              <a:rPr sz="1600" dirty="0" err="1"/>
              <a:t>ρg</a:t>
            </a:r>
            <a:r>
              <a:rPr sz="1600" dirty="0"/>
              <a:t> : Force </a:t>
            </a:r>
            <a:r>
              <a:rPr sz="1600" dirty="0" err="1"/>
              <a:t>gravitationnelle</a:t>
            </a:r>
            <a:r>
              <a:rPr sz="1600" dirty="0"/>
              <a:t> (</a:t>
            </a:r>
            <a:r>
              <a:rPr sz="1600" dirty="0" err="1"/>
              <a:t>négligeable</a:t>
            </a:r>
            <a:r>
              <a:rPr sz="1600" dirty="0"/>
              <a:t> </a:t>
            </a:r>
            <a:r>
              <a:rPr sz="1600" dirty="0" err="1"/>
              <a:t>ici</a:t>
            </a:r>
            <a:r>
              <a:rPr sz="1600" dirty="0"/>
              <a:t>, Bo &lt;&lt; 1)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sz="1600" dirty="0"/>
              <a:t>• </a:t>
            </a:r>
            <a:r>
              <a:rPr sz="1600" dirty="0" err="1"/>
              <a:t>F_σ</a:t>
            </a:r>
            <a:r>
              <a:rPr sz="1600" dirty="0"/>
              <a:t> : Force de tension de surface (</a:t>
            </a:r>
            <a:r>
              <a:rPr sz="1600" dirty="0" err="1"/>
              <a:t>terme</a:t>
            </a:r>
            <a:r>
              <a:rPr sz="1600" dirty="0"/>
              <a:t> Phase-Field)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endParaRPr lang="fr-FR" sz="1600" dirty="0"/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sz="1600" dirty="0" err="1"/>
              <a:t>Tenseur</a:t>
            </a:r>
            <a:r>
              <a:rPr sz="1600" dirty="0"/>
              <a:t> des </a:t>
            </a:r>
            <a:r>
              <a:rPr sz="1600" dirty="0" err="1"/>
              <a:t>contraintes</a:t>
            </a:r>
            <a:r>
              <a:rPr sz="1600" dirty="0"/>
              <a:t> </a:t>
            </a:r>
            <a:r>
              <a:rPr sz="1600" dirty="0" err="1"/>
              <a:t>visqueuses</a:t>
            </a:r>
            <a:endParaRPr sz="1600"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sz="1600" dirty="0"/>
              <a:t>• τ = 2η(γ̇)D  </a:t>
            </a:r>
            <a:r>
              <a:rPr sz="1600" dirty="0" err="1"/>
              <a:t>où</a:t>
            </a:r>
            <a:r>
              <a:rPr sz="1600" dirty="0"/>
              <a:t> D = ½(∇v + ∇vᵀ)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sz="1600" dirty="0"/>
              <a:t>• η(γ̇) : </a:t>
            </a:r>
            <a:r>
              <a:rPr sz="1600" dirty="0" err="1"/>
              <a:t>viscosité</a:t>
            </a:r>
            <a:r>
              <a:rPr sz="1600" dirty="0"/>
              <a:t> </a:t>
            </a:r>
            <a:r>
              <a:rPr sz="1600" dirty="0" err="1"/>
              <a:t>dépendant</a:t>
            </a:r>
            <a:r>
              <a:rPr sz="1600" dirty="0"/>
              <a:t> du </a:t>
            </a:r>
            <a:r>
              <a:rPr sz="1600" dirty="0" err="1"/>
              <a:t>cisaillement</a:t>
            </a:r>
            <a:r>
              <a:rPr sz="1600" dirty="0"/>
              <a:t> (Carreau)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sz="1600" dirty="0"/>
              <a:t>• D : </a:t>
            </a:r>
            <a:r>
              <a:rPr sz="1600" dirty="0" err="1"/>
              <a:t>tenseur</a:t>
            </a:r>
            <a:r>
              <a:rPr sz="1600" dirty="0"/>
              <a:t> </a:t>
            </a:r>
            <a:r>
              <a:rPr sz="1600" dirty="0" err="1"/>
              <a:t>taux</a:t>
            </a:r>
            <a:r>
              <a:rPr sz="1600" dirty="0"/>
              <a:t> de </a:t>
            </a:r>
            <a:r>
              <a:rPr sz="1600" dirty="0" err="1"/>
              <a:t>déformation</a:t>
            </a:r>
            <a:r>
              <a:rPr sz="1600" dirty="0"/>
              <a:t> </a:t>
            </a:r>
            <a:r>
              <a:rPr sz="1600" dirty="0" err="1"/>
              <a:t>symétrique</a:t>
            </a:r>
            <a:endParaRPr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31.10.25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400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Confidential. Not to be reproduced without the permission of Linxens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0ED2D-D78A-572F-0232-66383566A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4E1278-272F-28BA-C296-8EAB6FC0080D}"/>
              </a:ext>
            </a:extLst>
          </p:cNvPr>
          <p:cNvSpPr txBox="1"/>
          <p:nvPr/>
        </p:nvSpPr>
        <p:spPr>
          <a:xfrm>
            <a:off x="457200" y="274320"/>
            <a:ext cx="495763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t">
              <a:defRPr sz="2400" b="1"/>
            </a:pPr>
            <a:r>
              <a:t>Rhéologie de Carreau — Niveau Débutant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91558F-8B4F-703F-82E9-0206AA1B742F}"/>
              </a:ext>
            </a:extLst>
          </p:cNvPr>
          <p:cNvSpPr txBox="1"/>
          <p:nvPr/>
        </p:nvSpPr>
        <p:spPr>
          <a:xfrm>
            <a:off x="27432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31.10.25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A505D3-C9CE-6722-7B62-01EA48DD99A3}"/>
              </a:ext>
            </a:extLst>
          </p:cNvPr>
          <p:cNvSpPr txBox="1"/>
          <p:nvPr/>
        </p:nvSpPr>
        <p:spPr>
          <a:xfrm>
            <a:off x="5029200" y="6400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C00000"/>
                </a:solidFill>
              </a:defRPr>
            </a:pPr>
            <a:r>
              <a:t>Confidential. Not to be reproduced without the permission of Linxens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6464"/>
                </a:solidFill>
              </a:defRPr>
            </a:pPr>
            <a:r>
              <a:t>Pourquoi l'encre coule différemment selon la vitesse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8412480" cy="3985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dirty="0" err="1"/>
              <a:t>L'analogie</a:t>
            </a:r>
            <a:r>
              <a:rPr dirty="0"/>
              <a:t> du ketchup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Au repos : </a:t>
            </a:r>
            <a:r>
              <a:rPr dirty="0" err="1"/>
              <a:t>l'encre</a:t>
            </a:r>
            <a:r>
              <a:rPr dirty="0"/>
              <a:t> est </a:t>
            </a:r>
            <a:r>
              <a:rPr dirty="0" err="1"/>
              <a:t>épaisse</a:t>
            </a:r>
            <a:r>
              <a:rPr dirty="0"/>
              <a:t>, </a:t>
            </a:r>
            <a:r>
              <a:rPr dirty="0" err="1"/>
              <a:t>visqueuse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Quand on la </a:t>
            </a:r>
            <a:r>
              <a:rPr dirty="0" err="1"/>
              <a:t>pousse</a:t>
            </a:r>
            <a:r>
              <a:rPr dirty="0"/>
              <a:t> </a:t>
            </a:r>
            <a:r>
              <a:rPr dirty="0" err="1"/>
              <a:t>vite</a:t>
            </a:r>
            <a:r>
              <a:rPr dirty="0"/>
              <a:t> : </a:t>
            </a:r>
            <a:r>
              <a:rPr dirty="0" err="1"/>
              <a:t>elle</a:t>
            </a:r>
            <a:r>
              <a:rPr dirty="0"/>
              <a:t> </a:t>
            </a:r>
            <a:r>
              <a:rPr dirty="0" err="1"/>
              <a:t>devient</a:t>
            </a:r>
            <a:r>
              <a:rPr dirty="0"/>
              <a:t> plus </a:t>
            </a:r>
            <a:r>
              <a:rPr dirty="0" err="1"/>
              <a:t>fluide</a:t>
            </a:r>
            <a:r>
              <a:rPr dirty="0"/>
              <a:t> !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</a:t>
            </a:r>
            <a:r>
              <a:rPr dirty="0" err="1"/>
              <a:t>C'est</a:t>
            </a:r>
            <a:r>
              <a:rPr dirty="0"/>
              <a:t> un </a:t>
            </a:r>
            <a:r>
              <a:rPr dirty="0" err="1"/>
              <a:t>comportement</a:t>
            </a:r>
            <a:r>
              <a:rPr dirty="0"/>
              <a:t> "</a:t>
            </a:r>
            <a:r>
              <a:rPr dirty="0" err="1"/>
              <a:t>rhéofluidifiant</a:t>
            </a:r>
            <a:r>
              <a:rPr dirty="0"/>
              <a:t>" (shear-thinning)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dirty="0"/>
              <a:t>La </a:t>
            </a:r>
            <a:r>
              <a:rPr dirty="0" err="1"/>
              <a:t>courbe</a:t>
            </a:r>
            <a:r>
              <a:rPr dirty="0"/>
              <a:t> de </a:t>
            </a:r>
            <a:r>
              <a:rPr dirty="0" err="1"/>
              <a:t>viscosité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À </a:t>
            </a:r>
            <a:r>
              <a:rPr dirty="0" err="1"/>
              <a:t>faible</a:t>
            </a:r>
            <a:r>
              <a:rPr dirty="0"/>
              <a:t> </a:t>
            </a:r>
            <a:r>
              <a:rPr dirty="0" err="1"/>
              <a:t>cisaillement</a:t>
            </a:r>
            <a:r>
              <a:rPr dirty="0"/>
              <a:t> → </a:t>
            </a:r>
            <a:r>
              <a:rPr dirty="0" err="1"/>
              <a:t>viscosité</a:t>
            </a:r>
            <a:r>
              <a:rPr dirty="0"/>
              <a:t> haute (η₀ ≈ 0.5-5 </a:t>
            </a:r>
            <a:r>
              <a:rPr dirty="0" err="1"/>
              <a:t>Pa·s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À fort </a:t>
            </a:r>
            <a:r>
              <a:rPr dirty="0" err="1"/>
              <a:t>cisaillement</a:t>
            </a:r>
            <a:r>
              <a:rPr dirty="0"/>
              <a:t> → </a:t>
            </a:r>
            <a:r>
              <a:rPr dirty="0" err="1"/>
              <a:t>viscosité</a:t>
            </a:r>
            <a:r>
              <a:rPr dirty="0"/>
              <a:t> </a:t>
            </a:r>
            <a:r>
              <a:rPr dirty="0" err="1"/>
              <a:t>basse</a:t>
            </a:r>
            <a:r>
              <a:rPr dirty="0"/>
              <a:t> (η∞ ≈ 0.05 </a:t>
            </a:r>
            <a:r>
              <a:rPr dirty="0" err="1"/>
              <a:t>Pa·s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Transition progressive (pas </a:t>
            </a:r>
            <a:r>
              <a:rPr dirty="0" err="1"/>
              <a:t>brutale</a:t>
            </a:r>
            <a:r>
              <a:rPr dirty="0"/>
              <a:t>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dirty="0" err="1"/>
              <a:t>Pourquoi</a:t>
            </a:r>
            <a:r>
              <a:rPr dirty="0"/>
              <a:t> </a:t>
            </a:r>
            <a:r>
              <a:rPr dirty="0" err="1"/>
              <a:t>c'est</a:t>
            </a:r>
            <a:r>
              <a:rPr dirty="0"/>
              <a:t> important ?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Dans la </a:t>
            </a:r>
            <a:r>
              <a:rPr dirty="0" err="1"/>
              <a:t>seringue</a:t>
            </a:r>
            <a:r>
              <a:rPr dirty="0"/>
              <a:t> : fort </a:t>
            </a:r>
            <a:r>
              <a:rPr dirty="0" err="1"/>
              <a:t>cisaillement</a:t>
            </a:r>
            <a:r>
              <a:rPr dirty="0"/>
              <a:t> → </a:t>
            </a:r>
            <a:r>
              <a:rPr dirty="0" err="1"/>
              <a:t>encre</a:t>
            </a:r>
            <a:r>
              <a:rPr dirty="0"/>
              <a:t> </a:t>
            </a:r>
            <a:r>
              <a:rPr dirty="0" err="1"/>
              <a:t>fluide</a:t>
            </a:r>
            <a:r>
              <a:rPr dirty="0"/>
              <a:t> → facile à </a:t>
            </a:r>
            <a:r>
              <a:rPr dirty="0" err="1"/>
              <a:t>pousser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Dans le </a:t>
            </a:r>
            <a:r>
              <a:rPr dirty="0" err="1"/>
              <a:t>puit</a:t>
            </a:r>
            <a:r>
              <a:rPr dirty="0"/>
              <a:t> : </a:t>
            </a:r>
            <a:r>
              <a:rPr dirty="0" err="1"/>
              <a:t>faible</a:t>
            </a:r>
            <a:r>
              <a:rPr dirty="0"/>
              <a:t> </a:t>
            </a:r>
            <a:r>
              <a:rPr dirty="0" err="1"/>
              <a:t>cisaillement</a:t>
            </a:r>
            <a:r>
              <a:rPr dirty="0"/>
              <a:t> → </a:t>
            </a:r>
            <a:r>
              <a:rPr dirty="0" err="1"/>
              <a:t>encre</a:t>
            </a:r>
            <a:r>
              <a:rPr dirty="0"/>
              <a:t> </a:t>
            </a:r>
            <a:r>
              <a:rPr dirty="0" err="1"/>
              <a:t>épaisse</a:t>
            </a:r>
            <a:r>
              <a:rPr dirty="0"/>
              <a:t> → </a:t>
            </a:r>
            <a:r>
              <a:rPr dirty="0" err="1"/>
              <a:t>reste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place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</a:t>
            </a:r>
            <a:r>
              <a:rPr dirty="0" err="1"/>
              <a:t>Permet</a:t>
            </a:r>
            <a:r>
              <a:rPr dirty="0"/>
              <a:t> un </a:t>
            </a:r>
            <a:r>
              <a:rPr dirty="0" err="1"/>
              <a:t>dépôt</a:t>
            </a:r>
            <a:r>
              <a:rPr dirty="0"/>
              <a:t> </a:t>
            </a:r>
            <a:r>
              <a:rPr dirty="0" err="1"/>
              <a:t>contrôlé</a:t>
            </a:r>
            <a:r>
              <a:rPr dirty="0"/>
              <a:t> et stable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dirty="0"/>
              <a:t>Les </a:t>
            </a:r>
            <a:r>
              <a:rPr dirty="0" err="1"/>
              <a:t>paramètres</a:t>
            </a:r>
            <a:r>
              <a:rPr dirty="0"/>
              <a:t> </a:t>
            </a:r>
            <a:r>
              <a:rPr dirty="0" err="1"/>
              <a:t>clés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η₀ : </a:t>
            </a:r>
            <a:r>
              <a:rPr dirty="0" err="1"/>
              <a:t>viscosité</a:t>
            </a:r>
            <a:r>
              <a:rPr dirty="0"/>
              <a:t> au repos (</a:t>
            </a:r>
            <a:r>
              <a:rPr dirty="0" err="1"/>
              <a:t>quand</a:t>
            </a:r>
            <a:r>
              <a:rPr dirty="0"/>
              <a:t> rien ne </a:t>
            </a:r>
            <a:r>
              <a:rPr dirty="0" err="1"/>
              <a:t>bouge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η∞ : </a:t>
            </a:r>
            <a:r>
              <a:rPr dirty="0" err="1"/>
              <a:t>viscosité</a:t>
            </a:r>
            <a:r>
              <a:rPr dirty="0"/>
              <a:t> à </a:t>
            </a:r>
            <a:r>
              <a:rPr dirty="0" err="1"/>
              <a:t>l'infini</a:t>
            </a:r>
            <a:r>
              <a:rPr dirty="0"/>
              <a:t> (</a:t>
            </a:r>
            <a:r>
              <a:rPr dirty="0" err="1"/>
              <a:t>quand</a:t>
            </a:r>
            <a:r>
              <a:rPr dirty="0"/>
              <a:t> </a:t>
            </a:r>
            <a:r>
              <a:rPr dirty="0" err="1"/>
              <a:t>ça</a:t>
            </a:r>
            <a:r>
              <a:rPr dirty="0"/>
              <a:t> </a:t>
            </a:r>
            <a:r>
              <a:rPr dirty="0" err="1"/>
              <a:t>va</a:t>
            </a:r>
            <a:r>
              <a:rPr dirty="0"/>
              <a:t> très </a:t>
            </a:r>
            <a:r>
              <a:rPr dirty="0" err="1"/>
              <a:t>vite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λ : temps de relaxation (</a:t>
            </a:r>
            <a:r>
              <a:rPr dirty="0" err="1"/>
              <a:t>vitesse</a:t>
            </a:r>
            <a:r>
              <a:rPr dirty="0"/>
              <a:t> de transition)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n : </a:t>
            </a:r>
            <a:r>
              <a:rPr dirty="0" err="1"/>
              <a:t>indice</a:t>
            </a:r>
            <a:r>
              <a:rPr dirty="0"/>
              <a:t> de </a:t>
            </a:r>
            <a:r>
              <a:rPr dirty="0" err="1"/>
              <a:t>pseudoplasticité</a:t>
            </a:r>
            <a:r>
              <a:rPr dirty="0"/>
              <a:t> (&lt; 1 = </a:t>
            </a:r>
            <a:r>
              <a:rPr dirty="0" err="1"/>
              <a:t>rhéofluidifiant</a:t>
            </a:r>
            <a:r>
              <a:rPr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17397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Rhéologie de Carreau — Niveau Expert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6464"/>
                </a:solidFill>
              </a:defRPr>
            </a:pPr>
            <a:r>
              <a:t>Modèle constitutif non-newtonien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412480" cy="4832670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sz="1600" dirty="0" err="1"/>
              <a:t>Équation</a:t>
            </a:r>
            <a:r>
              <a:rPr sz="1600" dirty="0"/>
              <a:t> de Carreau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sz="1600" dirty="0"/>
              <a:t>• η(γ̇) = η∞ + (η₀ − η∞)[1 + (</a:t>
            </a:r>
            <a:r>
              <a:rPr sz="1600" dirty="0" err="1"/>
              <a:t>λγ</a:t>
            </a:r>
            <a:r>
              <a:rPr sz="1600" dirty="0"/>
              <a:t>̇)²]^((n−1)/2)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endParaRPr lang="fr-FR" sz="1600" dirty="0"/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sz="1600" dirty="0"/>
              <a:t>Signification des </a:t>
            </a:r>
            <a:r>
              <a:rPr sz="1600" dirty="0" err="1"/>
              <a:t>paramètres</a:t>
            </a:r>
            <a:endParaRPr sz="1600"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sz="1600" dirty="0"/>
              <a:t>• η₀ = 0.5-5 </a:t>
            </a:r>
            <a:r>
              <a:rPr sz="1600" dirty="0" err="1"/>
              <a:t>Pa·s</a:t>
            </a:r>
            <a:r>
              <a:rPr sz="1600" dirty="0"/>
              <a:t> : </a:t>
            </a:r>
            <a:r>
              <a:rPr sz="1600" dirty="0" err="1"/>
              <a:t>viscosité</a:t>
            </a:r>
            <a:r>
              <a:rPr sz="1600" dirty="0"/>
              <a:t> au plateau </a:t>
            </a:r>
            <a:r>
              <a:rPr sz="1600" dirty="0" err="1"/>
              <a:t>newtonien</a:t>
            </a:r>
            <a:r>
              <a:rPr sz="1600" dirty="0"/>
              <a:t> bas </a:t>
            </a:r>
            <a:r>
              <a:rPr sz="1600" dirty="0" err="1"/>
              <a:t>cisaillement</a:t>
            </a:r>
            <a:endParaRPr sz="1600"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sz="1600" dirty="0"/>
              <a:t>• η∞ = 0.05 </a:t>
            </a:r>
            <a:r>
              <a:rPr sz="1600" dirty="0" err="1"/>
              <a:t>Pa·s</a:t>
            </a:r>
            <a:r>
              <a:rPr sz="1600" dirty="0"/>
              <a:t> : </a:t>
            </a:r>
            <a:r>
              <a:rPr sz="1600" dirty="0" err="1"/>
              <a:t>viscosité</a:t>
            </a:r>
            <a:r>
              <a:rPr sz="1600" dirty="0"/>
              <a:t> </a:t>
            </a:r>
            <a:r>
              <a:rPr sz="1600" dirty="0" err="1"/>
              <a:t>asymptotique</a:t>
            </a:r>
            <a:r>
              <a:rPr sz="1600" dirty="0"/>
              <a:t> haut </a:t>
            </a:r>
            <a:r>
              <a:rPr sz="1600" dirty="0" err="1"/>
              <a:t>cisaillement</a:t>
            </a:r>
            <a:endParaRPr sz="1600"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sz="1600" dirty="0"/>
              <a:t>• λ = 0.15 s : temps </a:t>
            </a:r>
            <a:r>
              <a:rPr sz="1600" dirty="0" err="1"/>
              <a:t>caractéristique</a:t>
            </a:r>
            <a:r>
              <a:rPr sz="1600" dirty="0"/>
              <a:t> (inverse du γ̇ critique)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sz="1600" dirty="0"/>
              <a:t>• n = 0.7 : </a:t>
            </a:r>
            <a:r>
              <a:rPr sz="1600" dirty="0" err="1"/>
              <a:t>exposant</a:t>
            </a:r>
            <a:r>
              <a:rPr sz="1600" dirty="0"/>
              <a:t> (n &lt; 1 → shear-thinning)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endParaRPr lang="fr-FR" sz="1600" dirty="0"/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sz="1600" dirty="0" err="1"/>
              <a:t>Taux</a:t>
            </a:r>
            <a:r>
              <a:rPr sz="1600" dirty="0"/>
              <a:t> de </a:t>
            </a:r>
            <a:r>
              <a:rPr sz="1600" dirty="0" err="1"/>
              <a:t>cisaillement</a:t>
            </a:r>
            <a:endParaRPr sz="1600"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sz="1600" dirty="0"/>
              <a:t>• γ̇ = √(2D:D) = √(2·tr(D²))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sz="1600" dirty="0"/>
              <a:t>• D = ½(∇v + ∇vᵀ) : </a:t>
            </a:r>
            <a:r>
              <a:rPr sz="1600" dirty="0" err="1"/>
              <a:t>tenseur</a:t>
            </a:r>
            <a:r>
              <a:rPr sz="1600" dirty="0"/>
              <a:t> </a:t>
            </a:r>
            <a:r>
              <a:rPr sz="1600" dirty="0" err="1"/>
              <a:t>taux</a:t>
            </a:r>
            <a:r>
              <a:rPr sz="1600" dirty="0"/>
              <a:t> de </a:t>
            </a:r>
            <a:r>
              <a:rPr sz="1600" dirty="0" err="1"/>
              <a:t>déformation</a:t>
            </a:r>
            <a:endParaRPr sz="1600"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sz="1600" dirty="0"/>
              <a:t>• </a:t>
            </a:r>
            <a:r>
              <a:rPr sz="1600" dirty="0" err="1"/>
              <a:t>Unité</a:t>
            </a:r>
            <a:r>
              <a:rPr sz="1600" dirty="0"/>
              <a:t> : s⁻¹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sz="1600" dirty="0" err="1"/>
              <a:t>Comportement</a:t>
            </a:r>
            <a:r>
              <a:rPr sz="1600" dirty="0"/>
              <a:t> </a:t>
            </a:r>
            <a:r>
              <a:rPr sz="1600" dirty="0" err="1"/>
              <a:t>asymptotique</a:t>
            </a:r>
            <a:endParaRPr sz="1600"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sz="1600" dirty="0"/>
              <a:t>• γ̇ → 0 : η → η₀ (plateau </a:t>
            </a:r>
            <a:r>
              <a:rPr sz="1600" dirty="0" err="1"/>
              <a:t>newtonien</a:t>
            </a:r>
            <a:r>
              <a:rPr sz="1600"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sz="1600" dirty="0"/>
              <a:t>• γ̇ → ∞ : η → η∞ (plateau haut </a:t>
            </a:r>
            <a:r>
              <a:rPr sz="1600" dirty="0" err="1"/>
              <a:t>cisaillement</a:t>
            </a:r>
            <a:r>
              <a:rPr sz="1600"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sz="1600" dirty="0"/>
              <a:t>• Zone </a:t>
            </a:r>
            <a:r>
              <a:rPr sz="1600" dirty="0" err="1"/>
              <a:t>intermédiaire</a:t>
            </a:r>
            <a:r>
              <a:rPr sz="1600" dirty="0"/>
              <a:t> : </a:t>
            </a:r>
            <a:r>
              <a:rPr sz="1600" dirty="0" err="1"/>
              <a:t>loi</a:t>
            </a:r>
            <a:r>
              <a:rPr sz="1600" dirty="0"/>
              <a:t> puissance η ∝ γ̇^(n-1)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endParaRPr lang="fr-FR" sz="1600" dirty="0"/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sz="1600" dirty="0" err="1"/>
              <a:t>Implémentation</a:t>
            </a:r>
            <a:r>
              <a:rPr sz="1600" dirty="0"/>
              <a:t> numérique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sz="1600" dirty="0"/>
              <a:t>• </a:t>
            </a:r>
            <a:r>
              <a:rPr sz="1600" dirty="0" err="1"/>
              <a:t>Régularisation</a:t>
            </a:r>
            <a:r>
              <a:rPr sz="1600" dirty="0"/>
              <a:t> : </a:t>
            </a:r>
            <a:r>
              <a:rPr sz="1600" dirty="0" err="1"/>
              <a:t>γ̇_reg</a:t>
            </a:r>
            <a:r>
              <a:rPr sz="1600" dirty="0"/>
              <a:t> = max(γ̇, 10⁻¹⁰) pour </a:t>
            </a:r>
            <a:r>
              <a:rPr sz="1600" dirty="0" err="1"/>
              <a:t>éviter</a:t>
            </a:r>
            <a:r>
              <a:rPr sz="1600" dirty="0"/>
              <a:t> division par 0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sz="1600" dirty="0"/>
              <a:t>• </a:t>
            </a:r>
            <a:r>
              <a:rPr sz="1600" dirty="0" err="1"/>
              <a:t>Stabilisation</a:t>
            </a:r>
            <a:r>
              <a:rPr sz="1600" dirty="0"/>
              <a:t> </a:t>
            </a:r>
            <a:r>
              <a:rPr sz="1600" dirty="0" err="1"/>
              <a:t>importante</a:t>
            </a:r>
            <a:r>
              <a:rPr sz="1600" dirty="0"/>
              <a:t> pour convergence du </a:t>
            </a:r>
            <a:r>
              <a:rPr sz="1600" dirty="0" err="1"/>
              <a:t>solveur</a:t>
            </a:r>
            <a:endParaRPr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31.10.25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400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Confidential. Not to be reproduced without the permission of Linxens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71B4A-210D-0419-89B9-3C021DAB1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66D4BD-1B5B-489B-A895-2E4C608C7BC2}"/>
              </a:ext>
            </a:extLst>
          </p:cNvPr>
          <p:cNvSpPr txBox="1"/>
          <p:nvPr/>
        </p:nvSpPr>
        <p:spPr>
          <a:xfrm>
            <a:off x="457200" y="274320"/>
            <a:ext cx="3650808" cy="3058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t">
              <a:lnSpc>
                <a:spcPts val="1500"/>
              </a:lnSpc>
              <a:buNone/>
              <a:defRPr sz="2400" b="1"/>
            </a:pPr>
            <a:r>
              <a:t>Transport d'interface (Phase-Field) — Niveau Débutant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D6AB7B-08FB-C38D-A31A-C86693FC42CB}"/>
              </a:ext>
            </a:extLst>
          </p:cNvPr>
          <p:cNvSpPr txBox="1"/>
          <p:nvPr/>
        </p:nvSpPr>
        <p:spPr>
          <a:xfrm>
            <a:off x="27432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31.10.25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DEC7C8-FFF6-7749-3C57-B592A954323B}"/>
              </a:ext>
            </a:extLst>
          </p:cNvPr>
          <p:cNvSpPr txBox="1"/>
          <p:nvPr/>
        </p:nvSpPr>
        <p:spPr>
          <a:xfrm>
            <a:off x="5029200" y="6400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C00000"/>
                </a:solidFill>
              </a:defRPr>
            </a:pPr>
            <a:r>
              <a:t>Confidential. Not to be reproduced without the permission of Linxens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6464"/>
                </a:solidFill>
              </a:defRPr>
            </a:pPr>
            <a:r>
              <a:t>Comment l'ordinateur "voit" la frontière encre/air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256282"/>
            <a:ext cx="8412480" cy="3985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dirty="0"/>
              <a:t>Le </a:t>
            </a:r>
            <a:r>
              <a:rPr dirty="0" err="1"/>
              <a:t>problème</a:t>
            </a:r>
            <a:r>
              <a:rPr dirty="0"/>
              <a:t> à </a:t>
            </a:r>
            <a:r>
              <a:rPr dirty="0" err="1"/>
              <a:t>résoudre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Comment </a:t>
            </a:r>
            <a:r>
              <a:rPr dirty="0" err="1"/>
              <a:t>représenter</a:t>
            </a:r>
            <a:r>
              <a:rPr dirty="0"/>
              <a:t> la </a:t>
            </a:r>
            <a:r>
              <a:rPr dirty="0" err="1"/>
              <a:t>limite</a:t>
            </a:r>
            <a:r>
              <a:rPr dirty="0"/>
              <a:t> entre </a:t>
            </a:r>
            <a:r>
              <a:rPr dirty="0" err="1"/>
              <a:t>l'encre</a:t>
            </a:r>
            <a:r>
              <a:rPr dirty="0"/>
              <a:t> et </a:t>
            </a:r>
            <a:r>
              <a:rPr dirty="0" err="1"/>
              <a:t>l'air</a:t>
            </a:r>
            <a:r>
              <a:rPr dirty="0"/>
              <a:t> ?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En </a:t>
            </a:r>
            <a:r>
              <a:rPr dirty="0" err="1"/>
              <a:t>réalité</a:t>
            </a:r>
            <a:r>
              <a:rPr dirty="0"/>
              <a:t> : </a:t>
            </a:r>
            <a:r>
              <a:rPr dirty="0" err="1"/>
              <a:t>frontière</a:t>
            </a:r>
            <a:r>
              <a:rPr dirty="0"/>
              <a:t> </a:t>
            </a:r>
            <a:r>
              <a:rPr dirty="0" err="1"/>
              <a:t>nette</a:t>
            </a:r>
            <a:r>
              <a:rPr dirty="0"/>
              <a:t> (</a:t>
            </a:r>
            <a:r>
              <a:rPr dirty="0" err="1"/>
              <a:t>quelques</a:t>
            </a:r>
            <a:r>
              <a:rPr dirty="0"/>
              <a:t> </a:t>
            </a:r>
            <a:r>
              <a:rPr dirty="0" err="1"/>
              <a:t>molécules</a:t>
            </a:r>
            <a:r>
              <a:rPr dirty="0"/>
              <a:t> </a:t>
            </a:r>
            <a:r>
              <a:rPr dirty="0" err="1"/>
              <a:t>d'épaisseur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Pour </a:t>
            </a:r>
            <a:r>
              <a:rPr dirty="0" err="1"/>
              <a:t>l'ordinateur</a:t>
            </a:r>
            <a:r>
              <a:rPr dirty="0"/>
              <a:t> : impossible de capturer </a:t>
            </a:r>
            <a:r>
              <a:rPr dirty="0" err="1"/>
              <a:t>cette</a:t>
            </a:r>
            <a:r>
              <a:rPr dirty="0"/>
              <a:t> finesse !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dirty="0"/>
              <a:t>La solution Phase-Field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On </a:t>
            </a:r>
            <a:r>
              <a:rPr dirty="0" err="1"/>
              <a:t>utilise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variable φ (phi) qui </a:t>
            </a:r>
            <a:r>
              <a:rPr dirty="0" err="1"/>
              <a:t>varie</a:t>
            </a:r>
            <a:r>
              <a:rPr dirty="0"/>
              <a:t> de -1 à +1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φ = +1 : on est dans </a:t>
            </a:r>
            <a:r>
              <a:rPr dirty="0" err="1"/>
              <a:t>l'encre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φ = -1 : on est dans </a:t>
            </a:r>
            <a:r>
              <a:rPr dirty="0" err="1"/>
              <a:t>l'air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φ ≈ 0 : on est à </a:t>
            </a:r>
            <a:r>
              <a:rPr dirty="0" err="1"/>
              <a:t>l'interface</a:t>
            </a:r>
            <a:r>
              <a:rPr dirty="0"/>
              <a:t> (zone de transition)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dirty="0" err="1"/>
              <a:t>L'épaisseur</a:t>
            </a:r>
            <a:r>
              <a:rPr dirty="0"/>
              <a:t> </a:t>
            </a:r>
            <a:r>
              <a:rPr dirty="0" err="1"/>
              <a:t>artificielle</a:t>
            </a:r>
            <a:r>
              <a:rPr dirty="0"/>
              <a:t> ε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ε = 5 µm dans </a:t>
            </a:r>
            <a:r>
              <a:rPr dirty="0" err="1"/>
              <a:t>notre</a:t>
            </a:r>
            <a:r>
              <a:rPr dirty="0"/>
              <a:t> </a:t>
            </a:r>
            <a:r>
              <a:rPr dirty="0" err="1"/>
              <a:t>modèle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Zone de mélange numérique entre les deux phases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</a:t>
            </a:r>
            <a:r>
              <a:rPr dirty="0" err="1"/>
              <a:t>Compromis</a:t>
            </a:r>
            <a:r>
              <a:rPr dirty="0"/>
              <a:t> : </a:t>
            </a:r>
            <a:r>
              <a:rPr dirty="0" err="1"/>
              <a:t>assez</a:t>
            </a:r>
            <a:r>
              <a:rPr dirty="0"/>
              <a:t> fin pour </a:t>
            </a:r>
            <a:r>
              <a:rPr dirty="0" err="1"/>
              <a:t>être</a:t>
            </a:r>
            <a:r>
              <a:rPr dirty="0"/>
              <a:t> précis, </a:t>
            </a:r>
            <a:r>
              <a:rPr dirty="0" err="1"/>
              <a:t>assez</a:t>
            </a:r>
            <a:r>
              <a:rPr dirty="0"/>
              <a:t> large pour </a:t>
            </a:r>
            <a:r>
              <a:rPr dirty="0" err="1"/>
              <a:t>être</a:t>
            </a:r>
            <a:r>
              <a:rPr dirty="0"/>
              <a:t> calculable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dirty="0"/>
              <a:t>Comment </a:t>
            </a:r>
            <a:r>
              <a:rPr dirty="0" err="1"/>
              <a:t>l'interface</a:t>
            </a:r>
            <a:r>
              <a:rPr dirty="0"/>
              <a:t> </a:t>
            </a:r>
            <a:r>
              <a:rPr dirty="0" err="1"/>
              <a:t>bouge</a:t>
            </a:r>
            <a:r>
              <a:rPr dirty="0"/>
              <a:t> ?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Elle est </a:t>
            </a:r>
            <a:r>
              <a:rPr dirty="0" err="1"/>
              <a:t>transportée</a:t>
            </a:r>
            <a:r>
              <a:rPr dirty="0"/>
              <a:t> par le </a:t>
            </a:r>
            <a:r>
              <a:rPr dirty="0" err="1"/>
              <a:t>fluide</a:t>
            </a:r>
            <a:r>
              <a:rPr dirty="0"/>
              <a:t> (advection)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Elle garde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épaisseur</a:t>
            </a:r>
            <a:r>
              <a:rPr dirty="0"/>
              <a:t> </a:t>
            </a:r>
            <a:r>
              <a:rPr dirty="0" err="1"/>
              <a:t>constante</a:t>
            </a:r>
            <a:r>
              <a:rPr dirty="0"/>
              <a:t> (</a:t>
            </a:r>
            <a:r>
              <a:rPr dirty="0" err="1"/>
              <a:t>terme</a:t>
            </a:r>
            <a:r>
              <a:rPr dirty="0"/>
              <a:t> de </a:t>
            </a:r>
            <a:r>
              <a:rPr dirty="0" err="1"/>
              <a:t>régularisation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Les </a:t>
            </a:r>
            <a:r>
              <a:rPr dirty="0" err="1"/>
              <a:t>propriétés</a:t>
            </a:r>
            <a:r>
              <a:rPr dirty="0"/>
              <a:t> (ρ, η) </a:t>
            </a:r>
            <a:r>
              <a:rPr dirty="0" err="1"/>
              <a:t>varient</a:t>
            </a:r>
            <a:r>
              <a:rPr dirty="0"/>
              <a:t> </a:t>
            </a:r>
            <a:r>
              <a:rPr dirty="0" err="1"/>
              <a:t>continûment</a:t>
            </a:r>
            <a:r>
              <a:rPr dirty="0"/>
              <a:t> à travers </a:t>
            </a:r>
            <a:r>
              <a:rPr dirty="0" err="1"/>
              <a:t>l'interface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86634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Transport d'interface (Phase-Field) — Niveau Expert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6464"/>
                </a:solidFill>
              </a:defRPr>
            </a:pPr>
            <a:r>
              <a:t>Équation de Cahn-Hilliard modifiée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412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dirty="0" err="1"/>
              <a:t>Équation</a:t>
            </a:r>
            <a:r>
              <a:rPr dirty="0"/>
              <a:t> de transport Phase-Field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∂φ/∂t + v·∇φ = γ∇·[</a:t>
            </a:r>
            <a:r>
              <a:rPr dirty="0" err="1"/>
              <a:t>ε∇φ</a:t>
            </a:r>
            <a:r>
              <a:rPr dirty="0"/>
              <a:t> − φ(1−φ²)n̂]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dirty="0" err="1"/>
              <a:t>Analyse</a:t>
            </a:r>
            <a:r>
              <a:rPr dirty="0"/>
              <a:t> </a:t>
            </a:r>
            <a:r>
              <a:rPr dirty="0" err="1"/>
              <a:t>terme</a:t>
            </a:r>
            <a:r>
              <a:rPr dirty="0"/>
              <a:t> par </a:t>
            </a:r>
            <a:r>
              <a:rPr dirty="0" err="1"/>
              <a:t>terme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∂φ/∂t : variation </a:t>
            </a:r>
            <a:r>
              <a:rPr dirty="0" err="1"/>
              <a:t>temporelle</a:t>
            </a:r>
            <a:r>
              <a:rPr dirty="0"/>
              <a:t> du </a:t>
            </a:r>
            <a:r>
              <a:rPr dirty="0" err="1"/>
              <a:t>paramètre</a:t>
            </a:r>
            <a:r>
              <a:rPr dirty="0"/>
              <a:t> </a:t>
            </a:r>
            <a:r>
              <a:rPr dirty="0" err="1"/>
              <a:t>d'ordre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v·∇φ : advection par le champ de </a:t>
            </a:r>
            <a:r>
              <a:rPr dirty="0" err="1"/>
              <a:t>vitesse</a:t>
            </a:r>
            <a:r>
              <a:rPr dirty="0"/>
              <a:t> (transport)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</a:t>
            </a:r>
            <a:r>
              <a:rPr dirty="0" err="1"/>
              <a:t>ε∇φ</a:t>
            </a:r>
            <a:r>
              <a:rPr dirty="0"/>
              <a:t> : diffusion (</a:t>
            </a:r>
            <a:r>
              <a:rPr dirty="0" err="1"/>
              <a:t>épaississement</a:t>
            </a:r>
            <a:r>
              <a:rPr dirty="0"/>
              <a:t> de </a:t>
            </a:r>
            <a:r>
              <a:rPr dirty="0" err="1"/>
              <a:t>l'interface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φ(1−φ²)n̂ : compression (</a:t>
            </a:r>
            <a:r>
              <a:rPr dirty="0" err="1"/>
              <a:t>maintien</a:t>
            </a:r>
            <a:r>
              <a:rPr dirty="0"/>
              <a:t> de </a:t>
            </a:r>
            <a:r>
              <a:rPr dirty="0" err="1"/>
              <a:t>l'interface</a:t>
            </a:r>
            <a:r>
              <a:rPr dirty="0"/>
              <a:t> fine)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γ = 1 : </a:t>
            </a:r>
            <a:r>
              <a:rPr dirty="0" err="1"/>
              <a:t>paramètre</a:t>
            </a:r>
            <a:r>
              <a:rPr dirty="0"/>
              <a:t> de </a:t>
            </a:r>
            <a:r>
              <a:rPr dirty="0" err="1"/>
              <a:t>mobilité</a:t>
            </a:r>
            <a:r>
              <a:rPr dirty="0"/>
              <a:t> (</a:t>
            </a:r>
            <a:r>
              <a:rPr dirty="0" err="1"/>
              <a:t>vitesse</a:t>
            </a:r>
            <a:r>
              <a:rPr dirty="0"/>
              <a:t> de </a:t>
            </a:r>
            <a:r>
              <a:rPr dirty="0" err="1"/>
              <a:t>réinitialisation</a:t>
            </a:r>
            <a:r>
              <a:rPr dirty="0"/>
              <a:t>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dirty="0" err="1"/>
              <a:t>Propriétés</a:t>
            </a:r>
            <a:r>
              <a:rPr dirty="0"/>
              <a:t> du </a:t>
            </a:r>
            <a:r>
              <a:rPr dirty="0" err="1"/>
              <a:t>paramètre</a:t>
            </a:r>
            <a:r>
              <a:rPr dirty="0"/>
              <a:t> </a:t>
            </a:r>
            <a:r>
              <a:rPr dirty="0" err="1"/>
              <a:t>d'ordre</a:t>
            </a:r>
            <a:r>
              <a:rPr dirty="0"/>
              <a:t> φ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φ ∈ [-1, +1] : </a:t>
            </a:r>
            <a:r>
              <a:rPr dirty="0" err="1"/>
              <a:t>borné</a:t>
            </a:r>
            <a:r>
              <a:rPr dirty="0"/>
              <a:t> par construction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φ = +1 : phase 1 (</a:t>
            </a:r>
            <a:r>
              <a:rPr dirty="0" err="1"/>
              <a:t>encre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φ = -1 : phase 2 (air)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</a:t>
            </a:r>
            <a:r>
              <a:rPr dirty="0" err="1"/>
              <a:t>Profil</a:t>
            </a:r>
            <a:r>
              <a:rPr dirty="0"/>
              <a:t> </a:t>
            </a:r>
            <a:r>
              <a:rPr dirty="0" err="1"/>
              <a:t>d'équilibre</a:t>
            </a:r>
            <a:r>
              <a:rPr dirty="0"/>
              <a:t> : φ(d) = tanh(d/√2ε)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dirty="0"/>
              <a:t>Interpolation des </a:t>
            </a:r>
            <a:r>
              <a:rPr dirty="0" err="1"/>
              <a:t>propriétés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ρ(φ) = ρ₁·H(φ) + ρ₂·(1−H(φ))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η(φ) = η₁·H(φ) + η₂·(1−H(φ))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H(φ) = (1+φ)/2 : </a:t>
            </a:r>
            <a:r>
              <a:rPr dirty="0" err="1"/>
              <a:t>fonction</a:t>
            </a:r>
            <a:r>
              <a:rPr dirty="0"/>
              <a:t> de Heaviside </a:t>
            </a:r>
            <a:r>
              <a:rPr dirty="0" err="1"/>
              <a:t>régularisée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dirty="0" err="1"/>
              <a:t>Paramètres</a:t>
            </a:r>
            <a:r>
              <a:rPr dirty="0"/>
              <a:t> </a:t>
            </a:r>
            <a:r>
              <a:rPr dirty="0" err="1"/>
              <a:t>numériques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ε = 5 µm : </a:t>
            </a:r>
            <a:r>
              <a:rPr dirty="0" err="1"/>
              <a:t>épaisseur</a:t>
            </a:r>
            <a:r>
              <a:rPr dirty="0"/>
              <a:t> interface (≈ 2-3 </a:t>
            </a:r>
            <a:r>
              <a:rPr dirty="0" err="1"/>
              <a:t>éléments</a:t>
            </a:r>
            <a:r>
              <a:rPr dirty="0"/>
              <a:t> de </a:t>
            </a:r>
            <a:r>
              <a:rPr dirty="0" err="1"/>
              <a:t>maillage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γ = 1 m³/(N·s) : </a:t>
            </a:r>
            <a:r>
              <a:rPr dirty="0" err="1"/>
              <a:t>mobilité</a:t>
            </a:r>
            <a:r>
              <a:rPr dirty="0"/>
              <a:t> de </a:t>
            </a:r>
            <a:r>
              <a:rPr dirty="0" err="1"/>
              <a:t>réinitialisation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Condition CFL : </a:t>
            </a:r>
            <a:r>
              <a:rPr dirty="0" err="1"/>
              <a:t>Δt</a:t>
            </a:r>
            <a:r>
              <a:rPr dirty="0"/>
              <a:t> &lt; ε²/γ pour </a:t>
            </a:r>
            <a:r>
              <a:rPr dirty="0" err="1"/>
              <a:t>stabilité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31.10.25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400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Confidential. Not to be reproduced without the permission of Linxens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12DA1-04C4-9860-1C85-7A4DD1923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03EC04-EAAF-2C34-8A66-A4E35B1F3EAF}"/>
              </a:ext>
            </a:extLst>
          </p:cNvPr>
          <p:cNvSpPr txBox="1"/>
          <p:nvPr/>
        </p:nvSpPr>
        <p:spPr>
          <a:xfrm>
            <a:off x="457200" y="274320"/>
            <a:ext cx="192456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t">
              <a:defRPr sz="2400" b="1"/>
            </a:pPr>
            <a:r>
              <a:t>Tension de surface — Niveau Débutant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FA7DCA-F145-AECB-52D6-265DABC4441C}"/>
              </a:ext>
            </a:extLst>
          </p:cNvPr>
          <p:cNvSpPr txBox="1"/>
          <p:nvPr/>
        </p:nvSpPr>
        <p:spPr>
          <a:xfrm>
            <a:off x="27432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31.10.25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7EF7DC-2AD7-2A12-A692-FF01B5935B53}"/>
              </a:ext>
            </a:extLst>
          </p:cNvPr>
          <p:cNvSpPr txBox="1"/>
          <p:nvPr/>
        </p:nvSpPr>
        <p:spPr>
          <a:xfrm>
            <a:off x="5029200" y="6400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C00000"/>
                </a:solidFill>
              </a:defRPr>
            </a:pPr>
            <a:r>
              <a:t>Confidential. Not to be reproduced without the permission of Linxens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6464"/>
                </a:solidFill>
              </a:defRPr>
            </a:pPr>
            <a:r>
              <a:t>Pourquoi les gouttes sont rondes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170965"/>
            <a:ext cx="8412480" cy="4734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dirty="0" err="1"/>
              <a:t>L'observation</a:t>
            </a:r>
            <a:r>
              <a:rPr dirty="0"/>
              <a:t> </a:t>
            </a:r>
            <a:r>
              <a:rPr dirty="0" err="1"/>
              <a:t>quotidienne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Une goutte </a:t>
            </a:r>
            <a:r>
              <a:rPr dirty="0" err="1"/>
              <a:t>d'eau</a:t>
            </a:r>
            <a:r>
              <a:rPr dirty="0"/>
              <a:t> sur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feuille</a:t>
            </a:r>
            <a:r>
              <a:rPr dirty="0"/>
              <a:t> </a:t>
            </a:r>
            <a:r>
              <a:rPr dirty="0" err="1"/>
              <a:t>forme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perle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Les </a:t>
            </a:r>
            <a:r>
              <a:rPr dirty="0" err="1"/>
              <a:t>bulles</a:t>
            </a:r>
            <a:r>
              <a:rPr dirty="0"/>
              <a:t> de </a:t>
            </a:r>
            <a:r>
              <a:rPr dirty="0" err="1"/>
              <a:t>savon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sphériques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</a:t>
            </a:r>
            <a:r>
              <a:rPr dirty="0" err="1"/>
              <a:t>L'encre</a:t>
            </a:r>
            <a:r>
              <a:rPr dirty="0"/>
              <a:t> dans le </a:t>
            </a:r>
            <a:r>
              <a:rPr dirty="0" err="1"/>
              <a:t>puit</a:t>
            </a:r>
            <a:r>
              <a:rPr dirty="0"/>
              <a:t> ne </a:t>
            </a:r>
            <a:r>
              <a:rPr dirty="0" err="1"/>
              <a:t>s'étale</a:t>
            </a:r>
            <a:r>
              <a:rPr dirty="0"/>
              <a:t> pas </a:t>
            </a:r>
            <a:r>
              <a:rPr dirty="0" err="1"/>
              <a:t>infiniment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dirty="0" err="1"/>
              <a:t>L'explication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Les </a:t>
            </a:r>
            <a:r>
              <a:rPr dirty="0" err="1"/>
              <a:t>molécules</a:t>
            </a:r>
            <a:r>
              <a:rPr dirty="0"/>
              <a:t> à la surface "</a:t>
            </a:r>
            <a:r>
              <a:rPr dirty="0" err="1"/>
              <a:t>tirent</a:t>
            </a:r>
            <a:r>
              <a:rPr dirty="0"/>
              <a:t>" vers </a:t>
            </a:r>
            <a:r>
              <a:rPr dirty="0" err="1"/>
              <a:t>l'intérieur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Créent </a:t>
            </a:r>
            <a:r>
              <a:rPr dirty="0" err="1"/>
              <a:t>une</a:t>
            </a:r>
            <a:r>
              <a:rPr dirty="0"/>
              <a:t> "</a:t>
            </a:r>
            <a:r>
              <a:rPr dirty="0" err="1"/>
              <a:t>peau</a:t>
            </a:r>
            <a:r>
              <a:rPr dirty="0"/>
              <a:t>" </a:t>
            </a:r>
            <a:r>
              <a:rPr dirty="0" err="1"/>
              <a:t>élastique</a:t>
            </a:r>
            <a:r>
              <a:rPr dirty="0"/>
              <a:t> </a:t>
            </a:r>
            <a:r>
              <a:rPr dirty="0" err="1"/>
              <a:t>autour</a:t>
            </a:r>
            <a:r>
              <a:rPr dirty="0"/>
              <a:t> du </a:t>
            </a:r>
            <a:r>
              <a:rPr dirty="0" err="1"/>
              <a:t>liquide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La surface </a:t>
            </a:r>
            <a:r>
              <a:rPr dirty="0" err="1"/>
              <a:t>cherche</a:t>
            </a:r>
            <a:r>
              <a:rPr dirty="0"/>
              <a:t> à </a:t>
            </a:r>
            <a:r>
              <a:rPr dirty="0" err="1"/>
              <a:t>minimiser</a:t>
            </a:r>
            <a:r>
              <a:rPr dirty="0"/>
              <a:t> son </a:t>
            </a:r>
            <a:r>
              <a:rPr dirty="0" err="1"/>
              <a:t>aire</a:t>
            </a:r>
            <a:r>
              <a:rPr dirty="0"/>
              <a:t> → </a:t>
            </a:r>
            <a:r>
              <a:rPr dirty="0" err="1"/>
              <a:t>forme</a:t>
            </a:r>
            <a:r>
              <a:rPr dirty="0"/>
              <a:t> </a:t>
            </a:r>
            <a:r>
              <a:rPr dirty="0" err="1"/>
              <a:t>sphérique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dirty="0"/>
              <a:t>La </a:t>
            </a:r>
            <a:r>
              <a:rPr dirty="0" err="1"/>
              <a:t>courbure</a:t>
            </a:r>
            <a:r>
              <a:rPr dirty="0"/>
              <a:t> κ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Surface plate : κ = 0 (pas de force)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Surface </a:t>
            </a:r>
            <a:r>
              <a:rPr dirty="0" err="1"/>
              <a:t>bombée</a:t>
            </a:r>
            <a:r>
              <a:rPr dirty="0"/>
              <a:t> vers </a:t>
            </a:r>
            <a:r>
              <a:rPr dirty="0" err="1"/>
              <a:t>l'extérieur</a:t>
            </a:r>
            <a:r>
              <a:rPr dirty="0"/>
              <a:t> : κ &gt; 0 (force vers </a:t>
            </a:r>
            <a:r>
              <a:rPr dirty="0" err="1"/>
              <a:t>l'intérieur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Plus </a:t>
            </a:r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courbé</a:t>
            </a:r>
            <a:r>
              <a:rPr dirty="0"/>
              <a:t>, plus la force est grande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dirty="0"/>
              <a:t>Dans </a:t>
            </a:r>
            <a:r>
              <a:rPr dirty="0" err="1"/>
              <a:t>notre</a:t>
            </a:r>
            <a:r>
              <a:rPr dirty="0"/>
              <a:t> </a:t>
            </a:r>
            <a:r>
              <a:rPr dirty="0" err="1"/>
              <a:t>cas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σ = 40 </a:t>
            </a:r>
            <a:r>
              <a:rPr dirty="0" err="1"/>
              <a:t>mN</a:t>
            </a:r>
            <a:r>
              <a:rPr dirty="0"/>
              <a:t>/m : tension de surface </a:t>
            </a:r>
            <a:r>
              <a:rPr dirty="0" err="1"/>
              <a:t>encre</a:t>
            </a:r>
            <a:r>
              <a:rPr dirty="0"/>
              <a:t>/air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Force </a:t>
            </a:r>
            <a:r>
              <a:rPr dirty="0" err="1"/>
              <a:t>l'encre</a:t>
            </a:r>
            <a:r>
              <a:rPr dirty="0"/>
              <a:t> à former un </a:t>
            </a:r>
            <a:r>
              <a:rPr dirty="0" err="1"/>
              <a:t>ménisque</a:t>
            </a:r>
            <a:r>
              <a:rPr dirty="0"/>
              <a:t> dans le </a:t>
            </a:r>
            <a:r>
              <a:rPr dirty="0" err="1"/>
              <a:t>puit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</a:t>
            </a:r>
            <a:r>
              <a:rPr dirty="0" err="1"/>
              <a:t>Compétition</a:t>
            </a:r>
            <a:r>
              <a:rPr dirty="0"/>
              <a:t> avec la </a:t>
            </a:r>
            <a:r>
              <a:rPr dirty="0" err="1"/>
              <a:t>viscosité</a:t>
            </a:r>
            <a:r>
              <a:rPr dirty="0"/>
              <a:t> et </a:t>
            </a:r>
            <a:r>
              <a:rPr dirty="0" err="1"/>
              <a:t>l'inertie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dirty="0"/>
              <a:t>Nombre </a:t>
            </a:r>
            <a:r>
              <a:rPr dirty="0" err="1"/>
              <a:t>capillaire</a:t>
            </a:r>
            <a:r>
              <a:rPr dirty="0"/>
              <a:t> Ca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Ca = </a:t>
            </a:r>
            <a:r>
              <a:rPr dirty="0" err="1"/>
              <a:t>ηv</a:t>
            </a:r>
            <a:r>
              <a:rPr dirty="0"/>
              <a:t>/σ ≈ 0.001-0.01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Ca &lt;&lt; 1 → tension de surface domine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La </a:t>
            </a:r>
            <a:r>
              <a:rPr dirty="0" err="1"/>
              <a:t>forme</a:t>
            </a:r>
            <a:r>
              <a:rPr dirty="0"/>
              <a:t> est contrôlée par la </a:t>
            </a:r>
            <a:r>
              <a:rPr dirty="0" err="1"/>
              <a:t>capillarité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3391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Tension de surface — Niveau Expert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6464"/>
                </a:solidFill>
              </a:defRPr>
            </a:pPr>
            <a:r>
              <a:t>Force capillaire dans le formalisme Phase-Field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412480" cy="4734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lang="fr-FR" dirty="0"/>
              <a:t>F</a:t>
            </a:r>
            <a:r>
              <a:rPr dirty="0" err="1"/>
              <a:t>orce</a:t>
            </a:r>
            <a:r>
              <a:rPr dirty="0"/>
              <a:t> de tension de surface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</a:t>
            </a:r>
            <a:r>
              <a:rPr dirty="0" err="1"/>
              <a:t>F_σ</a:t>
            </a:r>
            <a:r>
              <a:rPr dirty="0"/>
              <a:t> = </a:t>
            </a:r>
            <a:r>
              <a:rPr dirty="0" err="1"/>
              <a:t>σκδ</a:t>
            </a:r>
            <a:r>
              <a:rPr dirty="0"/>
              <a:t>(φ)n̂  avec κ = ∇·n̂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dirty="0" err="1"/>
              <a:t>Analyse</a:t>
            </a:r>
            <a:r>
              <a:rPr dirty="0"/>
              <a:t> </a:t>
            </a:r>
            <a:r>
              <a:rPr dirty="0" err="1"/>
              <a:t>terme</a:t>
            </a:r>
            <a:r>
              <a:rPr dirty="0"/>
              <a:t> par </a:t>
            </a:r>
            <a:r>
              <a:rPr dirty="0" err="1"/>
              <a:t>terme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σ = 40 </a:t>
            </a:r>
            <a:r>
              <a:rPr dirty="0" err="1"/>
              <a:t>mN</a:t>
            </a:r>
            <a:r>
              <a:rPr dirty="0"/>
              <a:t>/m : coefficient de tension de surface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κ = ∇·n̂ : </a:t>
            </a:r>
            <a:r>
              <a:rPr dirty="0" err="1"/>
              <a:t>courbure</a:t>
            </a:r>
            <a:r>
              <a:rPr dirty="0"/>
              <a:t> </a:t>
            </a:r>
            <a:r>
              <a:rPr dirty="0" err="1"/>
              <a:t>moyenne</a:t>
            </a:r>
            <a:r>
              <a:rPr dirty="0"/>
              <a:t> de </a:t>
            </a:r>
            <a:r>
              <a:rPr dirty="0" err="1"/>
              <a:t>l'interface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δ(φ) : </a:t>
            </a:r>
            <a:r>
              <a:rPr dirty="0" err="1"/>
              <a:t>fonction</a:t>
            </a:r>
            <a:r>
              <a:rPr dirty="0"/>
              <a:t> Dirac </a:t>
            </a:r>
            <a:r>
              <a:rPr dirty="0" err="1"/>
              <a:t>régularisée</a:t>
            </a:r>
            <a:r>
              <a:rPr dirty="0"/>
              <a:t> (</a:t>
            </a:r>
            <a:r>
              <a:rPr dirty="0" err="1"/>
              <a:t>localise</a:t>
            </a:r>
            <a:r>
              <a:rPr dirty="0"/>
              <a:t> la force à </a:t>
            </a:r>
            <a:r>
              <a:rPr dirty="0" err="1"/>
              <a:t>l'interface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n̂ = ∇φ/|∇φ| : </a:t>
            </a:r>
            <a:r>
              <a:rPr dirty="0" err="1"/>
              <a:t>vecteur</a:t>
            </a:r>
            <a:r>
              <a:rPr dirty="0"/>
              <a:t> normal à </a:t>
            </a:r>
            <a:r>
              <a:rPr dirty="0" err="1"/>
              <a:t>l'interface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dirty="0"/>
              <a:t>Formulation Phase-Field (CSF)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</a:t>
            </a:r>
            <a:r>
              <a:rPr dirty="0" err="1"/>
              <a:t>Méthode</a:t>
            </a:r>
            <a:r>
              <a:rPr dirty="0"/>
              <a:t> Continuum Surface Force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</a:t>
            </a:r>
            <a:r>
              <a:rPr dirty="0" err="1"/>
              <a:t>F_σ</a:t>
            </a:r>
            <a:r>
              <a:rPr dirty="0"/>
              <a:t> = </a:t>
            </a:r>
            <a:r>
              <a:rPr dirty="0" err="1"/>
              <a:t>σκ∇φ</a:t>
            </a:r>
            <a:r>
              <a:rPr dirty="0"/>
              <a:t>  (</a:t>
            </a:r>
            <a:r>
              <a:rPr dirty="0" err="1"/>
              <a:t>forme</a:t>
            </a:r>
            <a:r>
              <a:rPr dirty="0"/>
              <a:t> </a:t>
            </a:r>
            <a:r>
              <a:rPr dirty="0" err="1"/>
              <a:t>distribuée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κ = −∇·(∇φ/|∇φ|) : </a:t>
            </a:r>
            <a:r>
              <a:rPr dirty="0" err="1"/>
              <a:t>courbure</a:t>
            </a:r>
            <a:r>
              <a:rPr dirty="0"/>
              <a:t> </a:t>
            </a:r>
            <a:r>
              <a:rPr dirty="0" err="1"/>
              <a:t>calculée</a:t>
            </a:r>
            <a:r>
              <a:rPr dirty="0"/>
              <a:t> </a:t>
            </a:r>
            <a:r>
              <a:rPr dirty="0" err="1"/>
              <a:t>depuis</a:t>
            </a:r>
            <a:r>
              <a:rPr dirty="0"/>
              <a:t> φ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</a:t>
            </a:r>
            <a:r>
              <a:rPr dirty="0" err="1"/>
              <a:t>Avantage</a:t>
            </a:r>
            <a:r>
              <a:rPr dirty="0"/>
              <a:t> : pas </a:t>
            </a:r>
            <a:r>
              <a:rPr dirty="0" err="1"/>
              <a:t>besoin</a:t>
            </a:r>
            <a:r>
              <a:rPr dirty="0"/>
              <a:t> de tracker </a:t>
            </a:r>
            <a:r>
              <a:rPr dirty="0" err="1"/>
              <a:t>l'interface</a:t>
            </a:r>
            <a:r>
              <a:rPr dirty="0"/>
              <a:t> </a:t>
            </a:r>
            <a:r>
              <a:rPr dirty="0" err="1"/>
              <a:t>explicitement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dirty="0" err="1"/>
              <a:t>Énergie</a:t>
            </a:r>
            <a:r>
              <a:rPr dirty="0"/>
              <a:t> libre de mélange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Ψ = σ/ε · [½|∇φ|² + (1−φ²)²/(4ε²)]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Premier </a:t>
            </a:r>
            <a:r>
              <a:rPr dirty="0" err="1"/>
              <a:t>terme</a:t>
            </a:r>
            <a:r>
              <a:rPr dirty="0"/>
              <a:t> : </a:t>
            </a:r>
            <a:r>
              <a:rPr dirty="0" err="1"/>
              <a:t>énergie</a:t>
            </a:r>
            <a:r>
              <a:rPr dirty="0"/>
              <a:t> de gradient (interface diffuse)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Second </a:t>
            </a:r>
            <a:r>
              <a:rPr dirty="0" err="1"/>
              <a:t>terme</a:t>
            </a:r>
            <a:r>
              <a:rPr dirty="0"/>
              <a:t> : </a:t>
            </a:r>
            <a:r>
              <a:rPr dirty="0" err="1"/>
              <a:t>potentiel</a:t>
            </a:r>
            <a:r>
              <a:rPr dirty="0"/>
              <a:t> double-</a:t>
            </a:r>
            <a:r>
              <a:rPr dirty="0" err="1"/>
              <a:t>puit</a:t>
            </a:r>
            <a:r>
              <a:rPr dirty="0"/>
              <a:t> (φ = ±1 stables)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dirty="0"/>
              <a:t>Aspects </a:t>
            </a:r>
            <a:r>
              <a:rPr dirty="0" err="1"/>
              <a:t>numériques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</a:t>
            </a:r>
            <a:r>
              <a:rPr dirty="0" err="1"/>
              <a:t>Régularisation</a:t>
            </a:r>
            <a:r>
              <a:rPr dirty="0"/>
              <a:t> : |∇</a:t>
            </a:r>
            <a:r>
              <a:rPr dirty="0" err="1"/>
              <a:t>φ|_reg</a:t>
            </a:r>
            <a:r>
              <a:rPr dirty="0"/>
              <a:t> = max(|∇φ|, 10⁻⁸)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</a:t>
            </a:r>
            <a:r>
              <a:rPr dirty="0" err="1"/>
              <a:t>Courbure</a:t>
            </a:r>
            <a:r>
              <a:rPr dirty="0"/>
              <a:t> </a:t>
            </a:r>
            <a:r>
              <a:rPr dirty="0" err="1"/>
              <a:t>bornée</a:t>
            </a:r>
            <a:r>
              <a:rPr dirty="0"/>
              <a:t> pour </a:t>
            </a:r>
            <a:r>
              <a:rPr dirty="0" err="1"/>
              <a:t>éviter</a:t>
            </a:r>
            <a:r>
              <a:rPr dirty="0"/>
              <a:t> </a:t>
            </a:r>
            <a:r>
              <a:rPr dirty="0" err="1"/>
              <a:t>instabilités</a:t>
            </a:r>
            <a:r>
              <a:rPr dirty="0"/>
              <a:t> parasites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Balance diffusion/compression critique pour </a:t>
            </a:r>
            <a:r>
              <a:rPr dirty="0" err="1"/>
              <a:t>précision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31.10.25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400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Confidential. Not to be reproduced without the permission of Linxens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51ED6-DDA0-D936-3C81-20B2853FA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31A01F-564D-9ECD-9FB8-EC35D909E439}"/>
              </a:ext>
            </a:extLst>
          </p:cNvPr>
          <p:cNvSpPr txBox="1"/>
          <p:nvPr/>
        </p:nvSpPr>
        <p:spPr>
          <a:xfrm>
            <a:off x="457200" y="274320"/>
            <a:ext cx="225004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t">
              <a:defRPr sz="2400" b="1"/>
            </a:pPr>
            <a:r>
              <a:t>Conditions aux limites — Niveau Débutant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D4AF24-3EC8-88C8-A3A4-BC77C303BD7A}"/>
              </a:ext>
            </a:extLst>
          </p:cNvPr>
          <p:cNvSpPr txBox="1"/>
          <p:nvPr/>
        </p:nvSpPr>
        <p:spPr>
          <a:xfrm>
            <a:off x="27432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31.10.25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416B41-B84C-1541-9914-0BD58C792E69}"/>
              </a:ext>
            </a:extLst>
          </p:cNvPr>
          <p:cNvSpPr txBox="1"/>
          <p:nvPr/>
        </p:nvSpPr>
        <p:spPr>
          <a:xfrm>
            <a:off x="5029200" y="6400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C00000"/>
                </a:solidFill>
              </a:defRPr>
            </a:pPr>
            <a:r>
              <a:t>Confidential. Not to be reproduced without the permission of Linxens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6464"/>
                </a:solidFill>
              </a:defRPr>
            </a:pPr>
            <a:r>
              <a:t>Les règles du jeu aux bords du domaine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8825" y="1188720"/>
            <a:ext cx="8412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dirty="0" err="1"/>
              <a:t>Pourquoi</a:t>
            </a:r>
            <a:r>
              <a:rPr dirty="0"/>
              <a:t> des conditions aux </a:t>
            </a:r>
            <a:r>
              <a:rPr dirty="0" err="1"/>
              <a:t>limites</a:t>
            </a:r>
            <a:r>
              <a:rPr dirty="0"/>
              <a:t> ?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Les </a:t>
            </a:r>
            <a:r>
              <a:rPr dirty="0" err="1"/>
              <a:t>équations</a:t>
            </a:r>
            <a:r>
              <a:rPr dirty="0"/>
              <a:t> </a:t>
            </a:r>
            <a:r>
              <a:rPr dirty="0" err="1"/>
              <a:t>décrivent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qui se passe À L'INTÉRIEUR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Mais il faut </a:t>
            </a:r>
            <a:r>
              <a:rPr dirty="0" err="1"/>
              <a:t>aussi</a:t>
            </a:r>
            <a:r>
              <a:rPr dirty="0"/>
              <a:t> dire </a:t>
            </a:r>
            <a:r>
              <a:rPr dirty="0" err="1"/>
              <a:t>ce</a:t>
            </a:r>
            <a:r>
              <a:rPr dirty="0"/>
              <a:t> qui se passe AUX BORDS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Sans </a:t>
            </a:r>
            <a:r>
              <a:rPr dirty="0" err="1"/>
              <a:t>ça</a:t>
            </a:r>
            <a:r>
              <a:rPr dirty="0"/>
              <a:t>, le </a:t>
            </a:r>
            <a:r>
              <a:rPr dirty="0" err="1"/>
              <a:t>problème</a:t>
            </a:r>
            <a:r>
              <a:rPr dirty="0"/>
              <a:t> a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infinité</a:t>
            </a:r>
            <a:r>
              <a:rPr dirty="0"/>
              <a:t> de solutions !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dirty="0"/>
              <a:t>Sur les </a:t>
            </a:r>
            <a:r>
              <a:rPr dirty="0" err="1"/>
              <a:t>parois</a:t>
            </a:r>
            <a:r>
              <a:rPr dirty="0"/>
              <a:t> </a:t>
            </a:r>
            <a:r>
              <a:rPr dirty="0" err="1"/>
              <a:t>solides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Non-</a:t>
            </a:r>
            <a:r>
              <a:rPr dirty="0" err="1"/>
              <a:t>glissement</a:t>
            </a:r>
            <a:r>
              <a:rPr dirty="0"/>
              <a:t> : v = 0 (le </a:t>
            </a:r>
            <a:r>
              <a:rPr dirty="0" err="1"/>
              <a:t>fluide</a:t>
            </a:r>
            <a:r>
              <a:rPr dirty="0"/>
              <a:t> </a:t>
            </a:r>
            <a:r>
              <a:rPr dirty="0" err="1"/>
              <a:t>colle</a:t>
            </a:r>
            <a:r>
              <a:rPr dirty="0"/>
              <a:t> à la </a:t>
            </a:r>
            <a:r>
              <a:rPr dirty="0" err="1"/>
              <a:t>paroi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Angle de contact : comment </a:t>
            </a:r>
            <a:r>
              <a:rPr dirty="0" err="1"/>
              <a:t>l'interface</a:t>
            </a:r>
            <a:r>
              <a:rPr dirty="0"/>
              <a:t> </a:t>
            </a:r>
            <a:r>
              <a:rPr dirty="0" err="1"/>
              <a:t>touche</a:t>
            </a:r>
            <a:r>
              <a:rPr dirty="0"/>
              <a:t> la </a:t>
            </a:r>
            <a:r>
              <a:rPr dirty="0" err="1"/>
              <a:t>paroi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θ petit (&lt; 45°) → </a:t>
            </a:r>
            <a:r>
              <a:rPr dirty="0" err="1"/>
              <a:t>l'encre</a:t>
            </a:r>
            <a:r>
              <a:rPr dirty="0"/>
              <a:t> </a:t>
            </a:r>
            <a:r>
              <a:rPr dirty="0" err="1"/>
              <a:t>mouille</a:t>
            </a:r>
            <a:r>
              <a:rPr dirty="0"/>
              <a:t> bien → </a:t>
            </a:r>
            <a:r>
              <a:rPr dirty="0" err="1"/>
              <a:t>s'étale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θ grand (&gt; 90°) → </a:t>
            </a:r>
            <a:r>
              <a:rPr dirty="0" err="1"/>
              <a:t>l'encre</a:t>
            </a:r>
            <a:r>
              <a:rPr dirty="0"/>
              <a:t> ne </a:t>
            </a:r>
            <a:r>
              <a:rPr dirty="0" err="1"/>
              <a:t>mouille</a:t>
            </a:r>
            <a:r>
              <a:rPr dirty="0"/>
              <a:t> pas → </a:t>
            </a:r>
            <a:r>
              <a:rPr dirty="0" err="1"/>
              <a:t>perle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dirty="0"/>
              <a:t>À </a:t>
            </a:r>
            <a:r>
              <a:rPr dirty="0" err="1"/>
              <a:t>l'entrée</a:t>
            </a:r>
            <a:r>
              <a:rPr dirty="0"/>
              <a:t> (</a:t>
            </a:r>
            <a:r>
              <a:rPr dirty="0" err="1"/>
              <a:t>seringue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Vitesse </a:t>
            </a:r>
            <a:r>
              <a:rPr dirty="0" err="1"/>
              <a:t>imposée</a:t>
            </a:r>
            <a:r>
              <a:rPr dirty="0"/>
              <a:t> : v = 0.1 m/s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Phase </a:t>
            </a:r>
            <a:r>
              <a:rPr dirty="0" err="1"/>
              <a:t>imposée</a:t>
            </a:r>
            <a:r>
              <a:rPr dirty="0"/>
              <a:t> : φ = +1 (on </a:t>
            </a:r>
            <a:r>
              <a:rPr dirty="0" err="1"/>
              <a:t>injecte</a:t>
            </a:r>
            <a:r>
              <a:rPr dirty="0"/>
              <a:t> de </a:t>
            </a:r>
            <a:r>
              <a:rPr dirty="0" err="1"/>
              <a:t>l'encre</a:t>
            </a:r>
            <a:r>
              <a:rPr dirty="0"/>
              <a:t> pure)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</a:t>
            </a:r>
            <a:r>
              <a:rPr dirty="0" err="1"/>
              <a:t>C'est</a:t>
            </a:r>
            <a:r>
              <a:rPr dirty="0"/>
              <a:t> la "</a:t>
            </a:r>
            <a:r>
              <a:rPr dirty="0" err="1"/>
              <a:t>commande</a:t>
            </a:r>
            <a:r>
              <a:rPr dirty="0"/>
              <a:t>" du </a:t>
            </a:r>
            <a:r>
              <a:rPr dirty="0" err="1"/>
              <a:t>système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dirty="0"/>
              <a:t>À la sortie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Pression </a:t>
            </a:r>
            <a:r>
              <a:rPr dirty="0" err="1"/>
              <a:t>atmosphérique</a:t>
            </a:r>
            <a:r>
              <a:rPr dirty="0"/>
              <a:t> : p = </a:t>
            </a:r>
            <a:r>
              <a:rPr dirty="0" err="1"/>
              <a:t>p_atm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</a:t>
            </a:r>
            <a:r>
              <a:rPr dirty="0" err="1"/>
              <a:t>L'air</a:t>
            </a:r>
            <a:r>
              <a:rPr dirty="0"/>
              <a:t>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entrer</a:t>
            </a:r>
            <a:r>
              <a:rPr dirty="0"/>
              <a:t>/</a:t>
            </a:r>
            <a:r>
              <a:rPr dirty="0" err="1"/>
              <a:t>sortir</a:t>
            </a:r>
            <a:r>
              <a:rPr dirty="0"/>
              <a:t> </a:t>
            </a:r>
            <a:r>
              <a:rPr dirty="0" err="1"/>
              <a:t>librement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Condition "ouverte" naturelle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dirty="0"/>
              <a:t>Les angles de contact </a:t>
            </a:r>
            <a:r>
              <a:rPr dirty="0" err="1"/>
              <a:t>clés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</a:t>
            </a:r>
            <a:r>
              <a:rPr dirty="0" err="1"/>
              <a:t>θ_or</a:t>
            </a:r>
            <a:r>
              <a:rPr dirty="0"/>
              <a:t> = 35-70° : sur </a:t>
            </a:r>
            <a:r>
              <a:rPr dirty="0" err="1"/>
              <a:t>l'électrode</a:t>
            </a:r>
            <a:r>
              <a:rPr dirty="0"/>
              <a:t> d'or (variable)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</a:t>
            </a:r>
            <a:r>
              <a:rPr dirty="0" err="1"/>
              <a:t>θ_wall</a:t>
            </a:r>
            <a:r>
              <a:rPr dirty="0"/>
              <a:t> = 35-90° : sur les </a:t>
            </a:r>
            <a:r>
              <a:rPr dirty="0" err="1"/>
              <a:t>parois</a:t>
            </a:r>
            <a:r>
              <a:rPr dirty="0"/>
              <a:t> </a:t>
            </a:r>
            <a:r>
              <a:rPr dirty="0" err="1"/>
              <a:t>latérales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</a:t>
            </a:r>
            <a:r>
              <a:rPr dirty="0" err="1"/>
              <a:t>Déterminants</a:t>
            </a:r>
            <a:r>
              <a:rPr dirty="0"/>
              <a:t> pour la </a:t>
            </a:r>
            <a:r>
              <a:rPr dirty="0" err="1"/>
              <a:t>forme</a:t>
            </a:r>
            <a:r>
              <a:rPr dirty="0"/>
              <a:t> finale du </a:t>
            </a:r>
            <a:r>
              <a:rPr dirty="0" err="1"/>
              <a:t>dépôt</a:t>
            </a:r>
            <a:r>
              <a:rPr dirty="0"/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3601468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Conditions aux limites — Niveau Expert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6464"/>
                </a:solidFill>
              </a:defRPr>
            </a:pPr>
            <a:r>
              <a:t>Formulation mathématique complète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412480" cy="5029200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dirty="0"/>
              <a:t>Condition de non-</a:t>
            </a:r>
            <a:r>
              <a:rPr dirty="0" err="1"/>
              <a:t>glissement</a:t>
            </a:r>
            <a:r>
              <a:rPr dirty="0"/>
              <a:t> (Dirichlet)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v = 0 sur </a:t>
            </a:r>
            <a:r>
              <a:rPr dirty="0" err="1"/>
              <a:t>Γ_wall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</a:t>
            </a:r>
            <a:r>
              <a:rPr dirty="0" err="1"/>
              <a:t>Γ_wall</a:t>
            </a:r>
            <a:r>
              <a:rPr dirty="0"/>
              <a:t> : </a:t>
            </a:r>
            <a:r>
              <a:rPr dirty="0" err="1"/>
              <a:t>frontières</a:t>
            </a:r>
            <a:r>
              <a:rPr dirty="0"/>
              <a:t> </a:t>
            </a:r>
            <a:r>
              <a:rPr dirty="0" err="1"/>
              <a:t>solides</a:t>
            </a:r>
            <a:r>
              <a:rPr dirty="0"/>
              <a:t> (</a:t>
            </a:r>
            <a:r>
              <a:rPr dirty="0" err="1"/>
              <a:t>parois</a:t>
            </a:r>
            <a:r>
              <a:rPr dirty="0"/>
              <a:t> </a:t>
            </a:r>
            <a:r>
              <a:rPr dirty="0" err="1"/>
              <a:t>puit</a:t>
            </a:r>
            <a:r>
              <a:rPr dirty="0"/>
              <a:t>, </a:t>
            </a:r>
            <a:r>
              <a:rPr dirty="0" err="1"/>
              <a:t>seringue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Condition forte </a:t>
            </a:r>
            <a:r>
              <a:rPr dirty="0" err="1"/>
              <a:t>imposée</a:t>
            </a:r>
            <a:r>
              <a:rPr dirty="0"/>
              <a:t> dans </a:t>
            </a:r>
            <a:r>
              <a:rPr dirty="0" err="1"/>
              <a:t>l'espace</a:t>
            </a:r>
            <a:r>
              <a:rPr dirty="0"/>
              <a:t> </a:t>
            </a:r>
            <a:r>
              <a:rPr dirty="0" err="1"/>
              <a:t>fonctionnel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dirty="0"/>
              <a:t>Condition </a:t>
            </a:r>
            <a:r>
              <a:rPr dirty="0" err="1"/>
              <a:t>d'angle</a:t>
            </a:r>
            <a:r>
              <a:rPr dirty="0"/>
              <a:t> de contact (Neumann)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</a:t>
            </a:r>
            <a:r>
              <a:rPr dirty="0" err="1"/>
              <a:t>n_w</a:t>
            </a:r>
            <a:r>
              <a:rPr dirty="0"/>
              <a:t>·∇φ = −(1/ε)cos(θ) sur </a:t>
            </a:r>
            <a:r>
              <a:rPr dirty="0" err="1"/>
              <a:t>Γ_wall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</a:t>
            </a:r>
            <a:r>
              <a:rPr dirty="0" err="1"/>
              <a:t>n_w</a:t>
            </a:r>
            <a:r>
              <a:rPr dirty="0"/>
              <a:t> : </a:t>
            </a:r>
            <a:r>
              <a:rPr dirty="0" err="1"/>
              <a:t>normale</a:t>
            </a:r>
            <a:r>
              <a:rPr dirty="0"/>
              <a:t> </a:t>
            </a:r>
            <a:r>
              <a:rPr dirty="0" err="1"/>
              <a:t>sortante</a:t>
            </a:r>
            <a:r>
              <a:rPr dirty="0"/>
              <a:t> à la </a:t>
            </a:r>
            <a:r>
              <a:rPr dirty="0" err="1"/>
              <a:t>paroi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θ : angle de contact </a:t>
            </a:r>
            <a:r>
              <a:rPr dirty="0" err="1"/>
              <a:t>statique</a:t>
            </a:r>
            <a:r>
              <a:rPr dirty="0"/>
              <a:t> (</a:t>
            </a:r>
            <a:r>
              <a:rPr dirty="0" err="1"/>
              <a:t>équilibre</a:t>
            </a:r>
            <a:r>
              <a:rPr dirty="0"/>
              <a:t> Young)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Formulation Phase-Field du </a:t>
            </a:r>
            <a:r>
              <a:rPr dirty="0" err="1"/>
              <a:t>mouillage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dirty="0"/>
              <a:t>Conditions </a:t>
            </a:r>
            <a:r>
              <a:rPr dirty="0" err="1"/>
              <a:t>d'entrée</a:t>
            </a:r>
            <a:r>
              <a:rPr dirty="0"/>
              <a:t> (Dirichlet)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v = </a:t>
            </a:r>
            <a:r>
              <a:rPr dirty="0" err="1"/>
              <a:t>v_in·n</a:t>
            </a:r>
            <a:r>
              <a:rPr dirty="0"/>
              <a:t> sur </a:t>
            </a:r>
            <a:r>
              <a:rPr dirty="0" err="1"/>
              <a:t>Γ_inlet</a:t>
            </a:r>
            <a:r>
              <a:rPr dirty="0"/>
              <a:t> (</a:t>
            </a:r>
            <a:r>
              <a:rPr dirty="0" err="1"/>
              <a:t>vitesse</a:t>
            </a:r>
            <a:r>
              <a:rPr dirty="0"/>
              <a:t> </a:t>
            </a:r>
            <a:r>
              <a:rPr dirty="0" err="1"/>
              <a:t>imposée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φ = +1 sur </a:t>
            </a:r>
            <a:r>
              <a:rPr dirty="0" err="1"/>
              <a:t>Γ_inlet</a:t>
            </a:r>
            <a:r>
              <a:rPr dirty="0"/>
              <a:t> (</a:t>
            </a:r>
            <a:r>
              <a:rPr dirty="0" err="1"/>
              <a:t>encre</a:t>
            </a:r>
            <a:r>
              <a:rPr dirty="0"/>
              <a:t> pure)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</a:t>
            </a:r>
            <a:r>
              <a:rPr dirty="0" err="1"/>
              <a:t>Profil</a:t>
            </a:r>
            <a:r>
              <a:rPr dirty="0"/>
              <a:t> de </a:t>
            </a:r>
            <a:r>
              <a:rPr dirty="0" err="1"/>
              <a:t>vitesse</a:t>
            </a:r>
            <a:r>
              <a:rPr dirty="0"/>
              <a:t> : </a:t>
            </a:r>
            <a:r>
              <a:rPr dirty="0" err="1"/>
              <a:t>parabolique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plat </a:t>
            </a:r>
            <a:r>
              <a:rPr dirty="0" err="1"/>
              <a:t>selon</a:t>
            </a:r>
            <a:r>
              <a:rPr dirty="0"/>
              <a:t> </a:t>
            </a:r>
            <a:r>
              <a:rPr dirty="0" err="1"/>
              <a:t>modèle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dirty="0"/>
              <a:t>Conditions de sortie (naturelle/Neumann)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p = </a:t>
            </a:r>
            <a:r>
              <a:rPr dirty="0" err="1"/>
              <a:t>p_atm</a:t>
            </a:r>
            <a:r>
              <a:rPr dirty="0"/>
              <a:t> sur </a:t>
            </a:r>
            <a:r>
              <a:rPr dirty="0" err="1"/>
              <a:t>Γ_outlet</a:t>
            </a:r>
            <a:r>
              <a:rPr dirty="0"/>
              <a:t> (pression </a:t>
            </a:r>
            <a:r>
              <a:rPr dirty="0" err="1"/>
              <a:t>atmosphérique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∂φ/∂n = 0 sur </a:t>
            </a:r>
            <a:r>
              <a:rPr dirty="0" err="1"/>
              <a:t>Γ_outlet</a:t>
            </a:r>
            <a:r>
              <a:rPr dirty="0"/>
              <a:t> (flux </a:t>
            </a:r>
            <a:r>
              <a:rPr dirty="0" err="1"/>
              <a:t>nul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Condition "do-nothing" pour </a:t>
            </a:r>
            <a:r>
              <a:rPr dirty="0" err="1"/>
              <a:t>vitesse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dirty="0" err="1"/>
              <a:t>Paramètres</a:t>
            </a:r>
            <a:r>
              <a:rPr dirty="0"/>
              <a:t> de </a:t>
            </a:r>
            <a:r>
              <a:rPr dirty="0" err="1"/>
              <a:t>mouillage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</a:t>
            </a:r>
            <a:r>
              <a:rPr dirty="0" err="1"/>
              <a:t>θ_or</a:t>
            </a:r>
            <a:r>
              <a:rPr dirty="0"/>
              <a:t> = 35-70° : </a:t>
            </a:r>
            <a:r>
              <a:rPr dirty="0" err="1"/>
              <a:t>électrode</a:t>
            </a:r>
            <a:r>
              <a:rPr dirty="0"/>
              <a:t> Au (</a:t>
            </a:r>
            <a:r>
              <a:rPr dirty="0" err="1"/>
              <a:t>contrôle</a:t>
            </a:r>
            <a:r>
              <a:rPr dirty="0"/>
              <a:t> </a:t>
            </a:r>
            <a:r>
              <a:rPr dirty="0" err="1"/>
              <a:t>étalement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</a:t>
            </a:r>
            <a:r>
              <a:rPr dirty="0" err="1"/>
              <a:t>θ_wall_L,R</a:t>
            </a:r>
            <a:r>
              <a:rPr dirty="0"/>
              <a:t> = 35-90° : </a:t>
            </a:r>
            <a:r>
              <a:rPr dirty="0" err="1"/>
              <a:t>parois</a:t>
            </a:r>
            <a:r>
              <a:rPr dirty="0"/>
              <a:t> </a:t>
            </a:r>
            <a:r>
              <a:rPr dirty="0" err="1"/>
              <a:t>latérales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</a:t>
            </a:r>
            <a:r>
              <a:rPr dirty="0" err="1"/>
              <a:t>θ_EG</a:t>
            </a:r>
            <a:r>
              <a:rPr dirty="0"/>
              <a:t> = 30-90° : </a:t>
            </a:r>
            <a:r>
              <a:rPr dirty="0" err="1"/>
              <a:t>substrat</a:t>
            </a:r>
            <a:r>
              <a:rPr dirty="0"/>
              <a:t> EG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</a:t>
            </a:r>
            <a:r>
              <a:rPr dirty="0" err="1"/>
              <a:t>Hystérésis</a:t>
            </a:r>
            <a:r>
              <a:rPr dirty="0"/>
              <a:t> non </a:t>
            </a:r>
            <a:r>
              <a:rPr dirty="0" err="1"/>
              <a:t>modélisée</a:t>
            </a:r>
            <a:r>
              <a:rPr dirty="0"/>
              <a:t> (angles </a:t>
            </a:r>
            <a:r>
              <a:rPr dirty="0" err="1"/>
              <a:t>statiques</a:t>
            </a:r>
            <a:r>
              <a:rPr dirty="0"/>
              <a:t>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06699"/>
                </a:solidFill>
              </a:defRPr>
            </a:pPr>
            <a:r>
              <a:rPr dirty="0" err="1"/>
              <a:t>Implémentation</a:t>
            </a:r>
            <a:r>
              <a:rPr dirty="0"/>
              <a:t> </a:t>
            </a:r>
            <a:r>
              <a:rPr dirty="0" err="1"/>
              <a:t>FEniCSx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Dirichlet : </a:t>
            </a:r>
            <a:r>
              <a:rPr dirty="0" err="1"/>
              <a:t>locate_dofs_topological</a:t>
            </a:r>
            <a:r>
              <a:rPr dirty="0"/>
              <a:t> + </a:t>
            </a:r>
            <a:r>
              <a:rPr dirty="0" err="1"/>
              <a:t>DirichletBC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Neumann : </a:t>
            </a:r>
            <a:r>
              <a:rPr dirty="0" err="1"/>
              <a:t>intégrale</a:t>
            </a:r>
            <a:r>
              <a:rPr dirty="0"/>
              <a:t> de surface dans </a:t>
            </a:r>
            <a:r>
              <a:rPr dirty="0" err="1"/>
              <a:t>forme</a:t>
            </a:r>
            <a:r>
              <a:rPr dirty="0"/>
              <a:t> </a:t>
            </a:r>
            <a:r>
              <a:rPr dirty="0" err="1"/>
              <a:t>variationnelle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rPr dirty="0"/>
              <a:t>• </a:t>
            </a:r>
            <a:r>
              <a:rPr dirty="0" err="1"/>
              <a:t>Marqueurs</a:t>
            </a:r>
            <a:r>
              <a:rPr dirty="0"/>
              <a:t> de </a:t>
            </a:r>
            <a:r>
              <a:rPr dirty="0" err="1"/>
              <a:t>facettes</a:t>
            </a:r>
            <a:r>
              <a:rPr dirty="0"/>
              <a:t> via </a:t>
            </a:r>
            <a:r>
              <a:rPr dirty="0" err="1"/>
              <a:t>gmsh</a:t>
            </a:r>
            <a:r>
              <a:rPr dirty="0"/>
              <a:t> (physical groups)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31.10.25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400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Confidential. Not to be reproduced without the permission of Linxens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2BC"/>
                </a:solidFill>
              </a:defRPr>
            </a:pPr>
            <a:r>
              <a:t>Paramètres clés étudiés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31.10.25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6400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C00000"/>
                </a:solidFill>
              </a:defRPr>
            </a:pPr>
            <a:r>
              <a:t>Confidential. Not to be reproduced without the permission of Linxens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82296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91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Paramètre</a:t>
                      </a:r>
                    </a:p>
                  </a:txBody>
                  <a:tcPr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Symbole</a:t>
                      </a:r>
                    </a:p>
                  </a:txBody>
                  <a:tcPr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Plage étudiée</a:t>
                      </a:r>
                    </a:p>
                  </a:txBody>
                  <a:tcPr>
                    <a:solidFill>
                      <a:srgbClr val="0072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1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72BC"/>
                          </a:solidFill>
                        </a:defRPr>
                      </a:pPr>
                      <a:r>
                        <a:t>GÉOMÉTRIE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Diamètre puit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D_well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800-1500 µm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132"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Diamètre seringue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D_needle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200-350 µm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132"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Hauteur puit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h_well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128 µm (fixe)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132"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Gap seringue-puit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Δz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30 µm (fixe)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132"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Décalage horizontal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Δx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0, -75, -150 µm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1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72BC"/>
                          </a:solidFill>
                        </a:defRPr>
                      </a:pPr>
                      <a:r>
                        <a:t>RHÉOLOGIE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Viscosité au repos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η₀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0.5-5 Pa·s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132"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Viscosité cisaillement 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η_∞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0.05 Pa·s (fixe)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132"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Temps relaxation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0.15 s (fixe)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9132"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Indice pseudoplasticité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 (fixe)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9132"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Densité encre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2200-3000 kg/m³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91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72BC"/>
                          </a:solidFill>
                        </a:defRPr>
                      </a:pPr>
                      <a:r>
                        <a:t>MOUILLAGE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Angle contact électrode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θ_or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35-70°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9132"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Angle contact paroi gauche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θ_wall_L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35-90°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9132"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Angle contact paroi droite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θ_wall_R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35-90°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9132"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Angle contact 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θ_EG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30-90°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91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72BC"/>
                          </a:solidFill>
                        </a:defRPr>
                      </a:pPr>
                      <a:r>
                        <a:t>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Tension de surface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 mN/m (fixe)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9132"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Épaisseur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 µm (fixe)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91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72BC"/>
                          </a:solidFill>
                        </a:defRPr>
                      </a:pPr>
                      <a:r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Temps dispense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t_disp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40-100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91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Taux remplissage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α_fill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80% (S_needle/S_well)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2BC"/>
                </a:solidFill>
              </a:defRPr>
            </a:pPr>
            <a:r>
              <a:t>Exemples de modélisation - Cas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31.10.25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6400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C00000"/>
                </a:solidFill>
              </a:defRPr>
            </a:pPr>
            <a:r>
              <a:t>Confidential. Not to be reproduced without the permission of Linxens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04040"/>
                </a:solidFill>
              </a:defRPr>
            </a:pPr>
            <a:r>
              <a:t>Comparaison simulation Python vs. observation microscopique</a:t>
            </a:r>
          </a:p>
        </p:txBody>
      </p:sp>
      <p:pic>
        <p:nvPicPr>
          <p:cNvPr id="6" name="Picture 5" descr="800_v1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3840480" cy="30055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3840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2BC"/>
                </a:solidFill>
              </a:defRPr>
            </a:pPr>
            <a:r>
              <a:t>SIMULATION PYTHON</a:t>
            </a:r>
          </a:p>
          <a:p>
            <a:pPr>
              <a:defRPr sz="900"/>
            </a:pPr>
            <a:r>
              <a:t>Paramètres: D_well=800µm, D_needle=250µm</a:t>
            </a:r>
          </a:p>
          <a:p>
            <a:pPr>
              <a:defRPr sz="900"/>
            </a:pPr>
            <a:r>
              <a:t>Temps: 80ms, Viscosité: 0.5 Pa·s</a:t>
            </a:r>
          </a:p>
          <a:p>
            <a:pPr>
              <a:defRPr sz="900"/>
            </a:pPr>
            <a:r>
              <a:t>CA: or=15°, wall=35°, EG=35°</a:t>
            </a:r>
          </a:p>
          <a:p>
            <a:pPr>
              <a:defRPr sz="900"/>
            </a:pPr>
            <a:r>
              <a:t>Densité: 3000 kg/m³, σ=40 mN/m</a:t>
            </a:r>
          </a:p>
        </p:txBody>
      </p:sp>
      <p:pic>
        <p:nvPicPr>
          <p:cNvPr id="8" name="Picture 7" descr="photo_1_B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645920"/>
            <a:ext cx="3840480" cy="28386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46320" y="4846320"/>
            <a:ext cx="3840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2BC"/>
                </a:solidFill>
              </a:defRPr>
            </a:pPr>
            <a:r>
              <a:t>COUPE MICROSCOPIQUE</a:t>
            </a:r>
          </a:p>
          <a:p>
            <a:pPr>
              <a:defRPr sz="900"/>
            </a:pPr>
            <a:r>
              <a:t>Échantillon: B2 (configuration similaire)</a:t>
            </a:r>
          </a:p>
          <a:p>
            <a:pPr>
              <a:defRPr sz="900"/>
            </a:pPr>
            <a:r>
              <a:t>Échelle: 120 µm</a:t>
            </a:r>
          </a:p>
          <a:p>
            <a:pPr>
              <a:defRPr sz="900"/>
            </a:pPr>
            <a:r>
              <a:t>Observation: Encre Ag/AgCl dans puit</a:t>
            </a:r>
          </a:p>
          <a:p>
            <a:pPr>
              <a:defRPr sz="900"/>
            </a:pPr>
            <a:r>
              <a:t>Note: Forme générale comparable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2BC"/>
                </a:solidFill>
              </a:defRPr>
            </a:pPr>
            <a:r>
              <a:t>Exemples de modélisation - Cas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31.10.25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6400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C00000"/>
                </a:solidFill>
              </a:defRPr>
            </a:pPr>
            <a:r>
              <a:t>Confidential. Not to be reproduced without the permission of Linxens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04040"/>
                </a:solidFill>
              </a:defRPr>
            </a:pPr>
            <a:r>
              <a:t>Variation d'angle de contact - Impact sur le mouillage</a:t>
            </a:r>
          </a:p>
        </p:txBody>
      </p:sp>
      <p:pic>
        <p:nvPicPr>
          <p:cNvPr id="6" name="Picture 5" descr="800_v1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3840480" cy="30055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3840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2BC"/>
                </a:solidFill>
              </a:defRPr>
            </a:pPr>
            <a:r>
              <a:t>SIMULATION - Angle CA=15°</a:t>
            </a:r>
          </a:p>
          <a:p>
            <a:pPr>
              <a:defRPr sz="900"/>
            </a:pPr>
            <a:r>
              <a:t>Effet: Mouillage favorisé</a:t>
            </a:r>
          </a:p>
          <a:p>
            <a:pPr>
              <a:defRPr sz="900"/>
            </a:pPr>
            <a:r>
              <a:t>Observation: Étalement plus important</a:t>
            </a:r>
          </a:p>
          <a:p>
            <a:pPr>
              <a:defRPr sz="900"/>
            </a:pPr>
            <a:r>
              <a:t>Contact intime avec électrode OR</a:t>
            </a:r>
          </a:p>
          <a:p>
            <a:pPr>
              <a:defRPr sz="900"/>
            </a:pPr>
            <a:r>
              <a:t>Volume: remplissage optimal (~80%)</a:t>
            </a:r>
          </a:p>
        </p:txBody>
      </p:sp>
      <p:pic>
        <p:nvPicPr>
          <p:cNvPr id="8" name="Picture 7" descr="photo_2_B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645920"/>
            <a:ext cx="3840480" cy="28386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46320" y="4846320"/>
            <a:ext cx="3840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2BC"/>
                </a:solidFill>
              </a:defRPr>
            </a:pPr>
            <a:r>
              <a:t>COUPE MICROSCOPIQUE</a:t>
            </a:r>
          </a:p>
          <a:p>
            <a:pPr>
              <a:defRPr sz="900"/>
            </a:pPr>
            <a:r>
              <a:t>Échantillon: B2 (vue alternative)</a:t>
            </a:r>
          </a:p>
          <a:p>
            <a:pPr>
              <a:defRPr sz="900"/>
            </a:pPr>
            <a:r>
              <a:t>Observation: Mouillage asymétrique</a:t>
            </a:r>
          </a:p>
          <a:p>
            <a:pPr>
              <a:defRPr sz="900"/>
            </a:pPr>
            <a:r>
              <a:t>Bulles d'air visibles</a:t>
            </a:r>
          </a:p>
          <a:p>
            <a:pPr>
              <a:defRPr sz="900"/>
            </a:pPr>
            <a:r>
              <a:t>Correspondance qualitative avec simulation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2BC"/>
                </a:solidFill>
              </a:defRPr>
            </a:pPr>
            <a:r>
              <a:t>Analyse comparative - Convergences modèle/réalité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31.10.25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6400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C00000"/>
                </a:solidFill>
              </a:defRPr>
            </a:pPr>
            <a:r>
              <a:t>Confidential. Not to be reproduced without the permission of Linxens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72BC"/>
                </a:solidFill>
              </a:defRPr>
            </a:pPr>
            <a:r>
              <a:t>FORME GÉNÉRALE DE LA GOUTTE ✓</a:t>
            </a:r>
          </a:p>
          <a:p>
            <a:pPr lvl="1">
              <a:spcAft>
                <a:spcPts val="300"/>
              </a:spcAft>
              <a:defRPr sz="1100"/>
            </a:pPr>
            <a:r>
              <a:t>• Allure qualitative très similaire entre simulation et observation</a:t>
            </a:r>
          </a:p>
          <a:p>
            <a:pPr lvl="1">
              <a:spcAft>
                <a:spcPts val="300"/>
              </a:spcAft>
              <a:defRPr sz="1100"/>
            </a:pPr>
            <a:r>
              <a:t>• Profil de l'interface encre-air reproduit fidèlement</a:t>
            </a:r>
          </a:p>
          <a:p>
            <a:pPr lvl="1">
              <a:spcAft>
                <a:spcPts val="300"/>
              </a:spcAft>
              <a:defRPr sz="1100"/>
            </a:pPr>
            <a:r>
              <a:t>• Symétrie axiale respectée dans les cas centrés (Δx=0)</a:t>
            </a:r>
          </a:p>
          <a:p>
            <a:pPr>
              <a:spcAft>
                <a:spcPts val="300"/>
              </a:spcAft>
              <a:defRPr sz="1100"/>
            </a:pPr>
            <a:endParaRPr/>
          </a:p>
          <a:p>
            <a:pPr>
              <a:spcAft>
                <a:spcPts val="300"/>
              </a:spcAft>
              <a:defRPr sz="1400" b="1">
                <a:solidFill>
                  <a:srgbClr val="0072BC"/>
                </a:solidFill>
              </a:defRPr>
            </a:pPr>
            <a:r>
              <a:t>ZONES DE MOUILLAGE ✓</a:t>
            </a:r>
          </a:p>
          <a:p>
            <a:pPr lvl="1">
              <a:spcAft>
                <a:spcPts val="300"/>
              </a:spcAft>
              <a:defRPr sz="1100"/>
            </a:pPr>
            <a:r>
              <a:t>• Localisation correcte du contact encre/électrode OR</a:t>
            </a:r>
          </a:p>
          <a:p>
            <a:pPr lvl="1">
              <a:spcAft>
                <a:spcPts val="300"/>
              </a:spcAft>
              <a:defRPr sz="1100"/>
            </a:pPr>
            <a:r>
              <a:t>• Transition nette entre zone mouillée et zone sèche</a:t>
            </a:r>
          </a:p>
          <a:p>
            <a:pPr lvl="1">
              <a:spcAft>
                <a:spcPts val="300"/>
              </a:spcAft>
              <a:defRPr sz="1100"/>
            </a:pPr>
            <a:r>
              <a:t>• Angles de contact apparents cohérents (écart ±5-10°)</a:t>
            </a:r>
          </a:p>
          <a:p>
            <a:pPr>
              <a:spcAft>
                <a:spcPts val="300"/>
              </a:spcAft>
              <a:defRPr sz="1100"/>
            </a:pPr>
            <a:endParaRPr/>
          </a:p>
          <a:p>
            <a:pPr>
              <a:spcAft>
                <a:spcPts val="300"/>
              </a:spcAft>
              <a:defRPr sz="1400" b="1">
                <a:solidFill>
                  <a:srgbClr val="0072BC"/>
                </a:solidFill>
              </a:defRPr>
            </a:pPr>
            <a:r>
              <a:t>ÉPAISSEUR ET VOLUME ✓</a:t>
            </a:r>
          </a:p>
          <a:p>
            <a:pPr lvl="1">
              <a:spcAft>
                <a:spcPts val="300"/>
              </a:spcAft>
              <a:defRPr sz="1100"/>
            </a:pPr>
            <a:r>
              <a:t>• Ordre de grandeur de l'épaisseur d'encre validé (~100-110 µm théorique vs ~90-120 µm mesuré)</a:t>
            </a:r>
          </a:p>
          <a:p>
            <a:pPr lvl="1">
              <a:spcAft>
                <a:spcPts val="300"/>
              </a:spcAft>
              <a:defRPr sz="1100"/>
            </a:pPr>
            <a:r>
              <a:t>• Taux de remplissage prédit proche de la cible (78-82% vs 80% souhaité)</a:t>
            </a:r>
          </a:p>
          <a:p>
            <a:pPr lvl="1">
              <a:spcAft>
                <a:spcPts val="300"/>
              </a:spcAft>
              <a:defRPr sz="1100"/>
            </a:pPr>
            <a:r>
              <a:t>• Volume dispensé calculé cohérent avec les mesures expérimentales</a:t>
            </a:r>
          </a:p>
          <a:p>
            <a:pPr>
              <a:spcAft>
                <a:spcPts val="300"/>
              </a:spcAft>
              <a:defRPr sz="1100"/>
            </a:pPr>
            <a:endParaRPr/>
          </a:p>
          <a:p>
            <a:pPr>
              <a:spcAft>
                <a:spcPts val="300"/>
              </a:spcAft>
              <a:defRPr sz="1400" b="1">
                <a:solidFill>
                  <a:srgbClr val="0072BC"/>
                </a:solidFill>
              </a:defRPr>
            </a:pPr>
            <a:r>
              <a:t>COMPORTEMENT RHÉOLOGIQUE ✓</a:t>
            </a:r>
          </a:p>
          <a:p>
            <a:pPr lvl="1">
              <a:spcAft>
                <a:spcPts val="300"/>
              </a:spcAft>
              <a:defRPr sz="1100"/>
            </a:pPr>
            <a:r>
              <a:t>• Viscosité apparente : Modèle de Carreau prédit correctement l'étalement</a:t>
            </a:r>
          </a:p>
          <a:p>
            <a:pPr lvl="1">
              <a:spcAft>
                <a:spcPts val="300"/>
              </a:spcAft>
              <a:defRPr sz="1100"/>
            </a:pPr>
            <a:r>
              <a:t>• Temps caractéristique : Dynamique de dispense reproduite (40-80 ms)</a:t>
            </a:r>
          </a:p>
          <a:p>
            <a:pPr lvl="1">
              <a:spcAft>
                <a:spcPts val="300"/>
              </a:spcAft>
              <a:defRPr sz="1100"/>
            </a:pPr>
            <a:r>
              <a:t>• Régime d'écoulement : Dominance des effets capillaires confirmée (Ca&lt;&lt;1)</a:t>
            </a:r>
          </a:p>
          <a:p>
            <a:pPr>
              <a:spcAft>
                <a:spcPts val="300"/>
              </a:spcAft>
              <a:defRPr sz="1100"/>
            </a:pPr>
            <a:endParaRPr/>
          </a:p>
          <a:p>
            <a:pPr>
              <a:spcAft>
                <a:spcPts val="300"/>
              </a:spcAft>
              <a:defRPr sz="1400" b="1">
                <a:solidFill>
                  <a:srgbClr val="0072BC"/>
                </a:solidFill>
              </a:defRPr>
            </a:pPr>
            <a:r>
              <a:t>EFFETS GÉOMÉTRIQUES ✓</a:t>
            </a:r>
          </a:p>
          <a:p>
            <a:pPr lvl="1">
              <a:spcAft>
                <a:spcPts val="300"/>
              </a:spcAft>
              <a:defRPr sz="1100"/>
            </a:pPr>
            <a:r>
              <a:t>• Impact du ratio D_needle/D_well sur la forme finale validé</a:t>
            </a:r>
          </a:p>
          <a:p>
            <a:pPr lvl="1">
              <a:spcAft>
                <a:spcPts val="300"/>
              </a:spcAft>
              <a:defRPr sz="1100"/>
            </a:pPr>
            <a:r>
              <a:t>• Influence du décalage horizontal (Δx) conforme aux observations</a:t>
            </a:r>
          </a:p>
          <a:p>
            <a:pPr lvl="1">
              <a:spcAft>
                <a:spcPts val="300"/>
              </a:spcAft>
              <a:defRPr sz="1100"/>
            </a:pPr>
            <a:r>
              <a:t>• Confinement vertical (h_well) correctement pris en compte</a:t>
            </a:r>
          </a:p>
          <a:p>
            <a:pPr>
              <a:spcAft>
                <a:spcPts val="300"/>
              </a:spcAft>
              <a:defRPr sz="1100"/>
            </a:pPr>
            <a:endParaRPr/>
          </a:p>
          <a:p>
            <a:pPr>
              <a:spcAft>
                <a:spcPts val="300"/>
              </a:spcAft>
              <a:defRPr sz="1400" b="1">
                <a:solidFill>
                  <a:srgbClr val="0072BC"/>
                </a:solidFill>
              </a:defRPr>
            </a:pPr>
            <a:r>
              <a:t>MÉTRIQUES QUANTITATIVES</a:t>
            </a:r>
          </a:p>
          <a:p>
            <a:pPr lvl="1">
              <a:spcAft>
                <a:spcPts val="300"/>
              </a:spcAft>
              <a:defRPr sz="1100"/>
            </a:pPr>
            <a:r>
              <a:t>• Angle de contact moyen: Simulation 35±3° vs Expérimental 32±8°</a:t>
            </a:r>
          </a:p>
          <a:p>
            <a:pPr lvl="1">
              <a:spcAft>
                <a:spcPts val="300"/>
              </a:spcAft>
              <a:defRPr sz="1100"/>
            </a:pPr>
            <a:r>
              <a:t>• Hauteur maximale: Simulation 105 µm vs Expérimental 98±15 µm</a:t>
            </a:r>
          </a:p>
          <a:p>
            <a:pPr lvl="1">
              <a:spcAft>
                <a:spcPts val="300"/>
              </a:spcAft>
              <a:defRPr sz="1100"/>
            </a:pPr>
            <a:r>
              <a:t>• Circularité: Simulation 0.85±0.05 vs Expérimental 0.82±0.12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2BC"/>
                </a:solidFill>
              </a:defRPr>
            </a:pPr>
            <a:r>
              <a:t>Analyse comparative - Divergences &amp; Limites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31.10.25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6400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C00000"/>
                </a:solidFill>
              </a:defRPr>
            </a:pPr>
            <a:r>
              <a:t>Confidential. Not to be reproduced without the permission of Linxens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F8C00"/>
                </a:solidFill>
              </a:defRPr>
            </a:pPr>
            <a:r>
              <a:t>RUGOSITÉ ET TOPOGRAPHIE DE SURFACE ⚠</a:t>
            </a:r>
          </a:p>
          <a:p>
            <a:pPr lvl="1"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• Modèle : Surfaces parfaitement lisses (approximation géométrique idéale)</a:t>
            </a:r>
          </a:p>
          <a:p>
            <a:pPr lvl="1">
              <a:spcAft>
                <a:spcPts val="200"/>
              </a:spcAft>
              <a:defRPr sz="1000">
                <a:solidFill>
                  <a:srgbClr val="008000"/>
                </a:solidFill>
              </a:defRPr>
            </a:pPr>
            <a:r>
              <a:t>• Réalité : Rugosité de surface Ra~1-5 µm sur électrodes OR sérigraphiées</a:t>
            </a:r>
          </a:p>
          <a:p>
            <a:pPr lvl="1">
              <a:spcAft>
                <a:spcPts val="200"/>
              </a:spcAft>
              <a:defRPr sz="1000"/>
            </a:pPr>
            <a:r>
              <a:t>• Impact : Variations locales d'angle de contact ±10-15° non capturées</a:t>
            </a:r>
          </a:p>
          <a:p>
            <a:pPr lvl="1">
              <a:spcAft>
                <a:spcPts val="200"/>
              </a:spcAft>
              <a:defRPr sz="1000"/>
            </a:pPr>
            <a:r>
              <a:t>• Conséquence : Asymétries et irrégularités de mouillage non prédites</a:t>
            </a:r>
          </a:p>
          <a:p>
            <a:pPr>
              <a:spcAft>
                <a:spcPts val="200"/>
              </a:spcAft>
              <a:defRPr sz="1000"/>
            </a:pPr>
            <a:endParaRPr/>
          </a:p>
          <a:p>
            <a:pPr>
              <a:spcAft>
                <a:spcPts val="200"/>
              </a:spcAft>
              <a:defRPr sz="1300" b="1">
                <a:solidFill>
                  <a:srgbClr val="FF8C00"/>
                </a:solidFill>
              </a:defRPr>
            </a:pPr>
            <a:r>
              <a:t>ÉVAPORATION ET SÉCHAGE ⚠</a:t>
            </a:r>
          </a:p>
          <a:p>
            <a:pPr lvl="1"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• Modèle : Pas de prise en compte de l'évaporation du solvant</a:t>
            </a:r>
          </a:p>
          <a:p>
            <a:pPr lvl="1">
              <a:spcAft>
                <a:spcPts val="200"/>
              </a:spcAft>
              <a:defRPr sz="1000">
                <a:solidFill>
                  <a:srgbClr val="008000"/>
                </a:solidFill>
              </a:defRPr>
            </a:pPr>
            <a:r>
              <a:t>• Réalité : Évaporation progressive pendant/après dispense (quelques secondes)</a:t>
            </a:r>
          </a:p>
          <a:p>
            <a:pPr lvl="1">
              <a:spcAft>
                <a:spcPts val="200"/>
              </a:spcAft>
              <a:defRPr sz="1000"/>
            </a:pPr>
            <a:r>
              <a:t>• Impact : Réduction du volume final de 5-10%, concentration en particules d'argent</a:t>
            </a:r>
          </a:p>
          <a:p>
            <a:pPr lvl="1">
              <a:spcAft>
                <a:spcPts val="200"/>
              </a:spcAft>
              <a:defRPr sz="1000"/>
            </a:pPr>
            <a:r>
              <a:t>• Conséquence : Forme finale post-séchage non simulée</a:t>
            </a:r>
          </a:p>
          <a:p>
            <a:pPr>
              <a:spcAft>
                <a:spcPts val="200"/>
              </a:spcAft>
              <a:defRPr sz="1000"/>
            </a:pPr>
            <a:endParaRPr/>
          </a:p>
          <a:p>
            <a:pPr>
              <a:spcAft>
                <a:spcPts val="200"/>
              </a:spcAft>
              <a:defRPr sz="1300" b="1">
                <a:solidFill>
                  <a:srgbClr val="FF8C00"/>
                </a:solidFill>
              </a:defRPr>
            </a:pPr>
            <a:r>
              <a:t>HÉTÉROGÉNÉITÉS MATIÈRE ⚠</a:t>
            </a:r>
          </a:p>
          <a:p>
            <a:pPr lvl="1"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• Modèle : Encre homogène avec viscosité continue (Carreau)</a:t>
            </a:r>
          </a:p>
          <a:p>
            <a:pPr lvl="1">
              <a:spcAft>
                <a:spcPts val="200"/>
              </a:spcAft>
              <a:defRPr sz="1000">
                <a:solidFill>
                  <a:srgbClr val="008000"/>
                </a:solidFill>
              </a:defRPr>
            </a:pPr>
            <a:r>
              <a:t>• Réalité : Suspension de particules Ag/AgCl (20-50% solides), comportement thixotrope</a:t>
            </a:r>
          </a:p>
          <a:p>
            <a:pPr lvl="1">
              <a:spcAft>
                <a:spcPts val="200"/>
              </a:spcAft>
              <a:defRPr sz="1000"/>
            </a:pPr>
            <a:r>
              <a:t>• Impact : Sédimentation possible, gradients de concentration locaux</a:t>
            </a:r>
          </a:p>
          <a:p>
            <a:pPr lvl="1">
              <a:spcAft>
                <a:spcPts val="200"/>
              </a:spcAft>
              <a:defRPr sz="1000"/>
            </a:pPr>
            <a:r>
              <a:t>• Conséquence : Propriétés rhéologiques variables spatialement</a:t>
            </a:r>
          </a:p>
          <a:p>
            <a:pPr>
              <a:spcAft>
                <a:spcPts val="200"/>
              </a:spcAft>
              <a:defRPr sz="1000"/>
            </a:pPr>
            <a:endParaRPr/>
          </a:p>
          <a:p>
            <a:pPr>
              <a:spcAft>
                <a:spcPts val="200"/>
              </a:spcAft>
              <a:defRPr sz="1300" b="1">
                <a:solidFill>
                  <a:srgbClr val="FF8C00"/>
                </a:solidFill>
              </a:defRPr>
            </a:pPr>
            <a:r>
              <a:t>DÉFAUTS GÉOMÉTRIQUES ⚠</a:t>
            </a:r>
          </a:p>
          <a:p>
            <a:pPr lvl="1"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• Modèle : Géométrie puit parfaitement cylindrique, bords nets</a:t>
            </a:r>
          </a:p>
          <a:p>
            <a:pPr lvl="1">
              <a:spcAft>
                <a:spcPts val="200"/>
              </a:spcAft>
              <a:defRPr sz="1000">
                <a:solidFill>
                  <a:srgbClr val="008000"/>
                </a:solidFill>
              </a:defRPr>
            </a:pPr>
            <a:r>
              <a:t>• Réalité : Variations de diamètre ±20 µm, bords arrondis, défauts d'impression</a:t>
            </a:r>
          </a:p>
          <a:p>
            <a:pPr lvl="1">
              <a:spcAft>
                <a:spcPts val="200"/>
              </a:spcAft>
              <a:defRPr sz="1000"/>
            </a:pPr>
            <a:r>
              <a:t>• Impact : Zones préférentielles de piégeage d'air, variations de profondeur</a:t>
            </a:r>
          </a:p>
          <a:p>
            <a:pPr lvl="1">
              <a:spcAft>
                <a:spcPts val="200"/>
              </a:spcAft>
              <a:defRPr sz="1000"/>
            </a:pPr>
            <a:r>
              <a:t>• Conséquence : Bulles d'air résiduelles non systématiquement prédites</a:t>
            </a:r>
          </a:p>
          <a:p>
            <a:pPr>
              <a:spcAft>
                <a:spcPts val="200"/>
              </a:spcAft>
              <a:defRPr sz="1000"/>
            </a:pPr>
            <a:endParaRPr/>
          </a:p>
          <a:p>
            <a:pPr>
              <a:spcAft>
                <a:spcPts val="200"/>
              </a:spcAft>
              <a:defRPr sz="1300" b="1">
                <a:solidFill>
                  <a:srgbClr val="FF8C00"/>
                </a:solidFill>
              </a:defRPr>
            </a:pPr>
            <a:r>
              <a:t>SIMPLIFICATIONS 2D vs RÉALITÉ 3D ⚠</a:t>
            </a:r>
          </a:p>
          <a:p>
            <a:pPr lvl="1"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• Modèle : Axisymétrie 2D (hypothèse de révolution autour de l'axe)</a:t>
            </a:r>
          </a:p>
          <a:p>
            <a:pPr lvl="1">
              <a:spcAft>
                <a:spcPts val="200"/>
              </a:spcAft>
              <a:defRPr sz="1000">
                <a:solidFill>
                  <a:srgbClr val="008000"/>
                </a:solidFill>
              </a:defRPr>
            </a:pPr>
            <a:r>
              <a:t>• Réalité : Phénomènes 3D possibles (instabilités, déformations non-axisymétriques)</a:t>
            </a:r>
          </a:p>
          <a:p>
            <a:pPr lvl="1">
              <a:spcAft>
                <a:spcPts val="200"/>
              </a:spcAft>
              <a:defRPr sz="1000"/>
            </a:pPr>
            <a:r>
              <a:t>• Impact : Pertes d'information sur variations azimutales</a:t>
            </a:r>
          </a:p>
          <a:p>
            <a:pPr lvl="1">
              <a:spcAft>
                <a:spcPts val="200"/>
              </a:spcAft>
              <a:defRPr sz="1000"/>
            </a:pPr>
            <a:r>
              <a:t>• Conséquence : Asymétries de remplissage non capturées dans certains cas</a:t>
            </a:r>
          </a:p>
          <a:p>
            <a:pPr>
              <a:spcAft>
                <a:spcPts val="200"/>
              </a:spcAft>
              <a:defRPr sz="1000"/>
            </a:pPr>
            <a:endParaRPr/>
          </a:p>
          <a:p>
            <a:pPr>
              <a:spcAft>
                <a:spcPts val="200"/>
              </a:spcAft>
              <a:defRPr sz="1300" b="1">
                <a:solidFill>
                  <a:srgbClr val="0072BC"/>
                </a:solidFill>
              </a:defRPr>
            </a:pPr>
            <a:r>
              <a:t>LIMITATIONS NUMÉRIQUES</a:t>
            </a:r>
          </a:p>
          <a:p>
            <a:pPr>
              <a:spcAft>
                <a:spcPts val="200"/>
              </a:spcAft>
              <a:defRPr sz="1000"/>
            </a:pPr>
            <a:r>
              <a:t>• Résolution de maillage : Interface diffuse de 5 µm (compromis précision/temps calcul)</a:t>
            </a:r>
          </a:p>
          <a:p>
            <a:pPr>
              <a:spcAft>
                <a:spcPts val="200"/>
              </a:spcAft>
              <a:defRPr sz="1000"/>
            </a:pPr>
            <a:r>
              <a:t>• Pas de temps : Δt=0.1 ms (contraintes de stabilité numérique)</a:t>
            </a:r>
          </a:p>
          <a:p>
            <a:pPr>
              <a:spcAft>
                <a:spcPts val="200"/>
              </a:spcAft>
              <a:defRPr sz="1000"/>
            </a:pPr>
            <a:r>
              <a:t>• Temps de calcul : 10-20 min par simulation (limité par ressources disponibles)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2BC"/>
                </a:solidFill>
              </a:defRPr>
            </a:pPr>
            <a:r>
              <a:t>Analyse factorielle &amp;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31.10.25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6400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C00000"/>
                </a:solidFill>
              </a:defRPr>
            </a:pPr>
            <a:r>
              <a:t>Confidential. Not to be reproduced without the permission of Linxens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072BC"/>
                </a:solidFill>
              </a:defRPr>
            </a:pPr>
            <a:r>
              <a:rPr dirty="0"/>
              <a:t>FACTEURS INFLUENTS IDENTIFIÉS (par </a:t>
            </a:r>
            <a:r>
              <a:rPr dirty="0" err="1"/>
              <a:t>ordre</a:t>
            </a:r>
            <a:r>
              <a:rPr dirty="0"/>
              <a:t> </a:t>
            </a:r>
            <a:r>
              <a:rPr dirty="0" err="1"/>
              <a:t>d'impact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1000"/>
            </a:pPr>
            <a:endParaRPr dirty="0"/>
          </a:p>
          <a:p>
            <a:pPr>
              <a:spcAft>
                <a:spcPts val="200"/>
              </a:spcAft>
              <a:defRPr sz="1300" b="1">
                <a:solidFill>
                  <a:srgbClr val="0072BC"/>
                </a:solidFill>
              </a:defRPr>
            </a:pPr>
            <a:r>
              <a:rPr dirty="0"/>
              <a:t>1. ANGLE DE CONTACT θ (</a:t>
            </a:r>
            <a:r>
              <a:rPr dirty="0" err="1"/>
              <a:t>effet</a:t>
            </a:r>
            <a:r>
              <a:rPr dirty="0"/>
              <a:t> MAJEUR)</a:t>
            </a:r>
          </a:p>
          <a:p>
            <a:pPr lvl="2">
              <a:spcAft>
                <a:spcPts val="200"/>
              </a:spcAft>
              <a:defRPr sz="1000"/>
            </a:pPr>
            <a:r>
              <a:rPr dirty="0"/>
              <a:t>   • Variation 35° → 70° : </a:t>
            </a:r>
            <a:r>
              <a:rPr dirty="0" err="1"/>
              <a:t>changement</a:t>
            </a:r>
            <a:r>
              <a:rPr dirty="0"/>
              <a:t> radical de </a:t>
            </a:r>
            <a:r>
              <a:rPr dirty="0" err="1"/>
              <a:t>mouillage</a:t>
            </a:r>
            <a:endParaRPr dirty="0"/>
          </a:p>
          <a:p>
            <a:pPr lvl="2">
              <a:spcAft>
                <a:spcPts val="200"/>
              </a:spcAft>
              <a:defRPr sz="1000"/>
            </a:pPr>
            <a:r>
              <a:rPr dirty="0"/>
              <a:t>   • Impact sur </a:t>
            </a:r>
            <a:r>
              <a:rPr dirty="0" err="1"/>
              <a:t>aire</a:t>
            </a:r>
            <a:r>
              <a:rPr dirty="0"/>
              <a:t> de contact : variation de 40-60%</a:t>
            </a:r>
          </a:p>
          <a:p>
            <a:pPr lvl="2">
              <a:spcAft>
                <a:spcPts val="200"/>
              </a:spcAft>
              <a:defRPr sz="1000"/>
            </a:pPr>
            <a:r>
              <a:rPr dirty="0"/>
              <a:t>   • </a:t>
            </a:r>
            <a:r>
              <a:rPr dirty="0" err="1"/>
              <a:t>Contrôle</a:t>
            </a:r>
            <a:r>
              <a:rPr dirty="0"/>
              <a:t> la </a:t>
            </a:r>
            <a:r>
              <a:rPr dirty="0" err="1"/>
              <a:t>forme</a:t>
            </a:r>
            <a:r>
              <a:rPr dirty="0"/>
              <a:t> finale et </a:t>
            </a:r>
            <a:r>
              <a:rPr dirty="0" err="1"/>
              <a:t>l'uniformité</a:t>
            </a:r>
            <a:r>
              <a:rPr dirty="0"/>
              <a:t> du </a:t>
            </a:r>
            <a:r>
              <a:rPr dirty="0" err="1"/>
              <a:t>dépôt</a:t>
            </a:r>
            <a:endParaRPr dirty="0"/>
          </a:p>
          <a:p>
            <a:pPr lvl="2">
              <a:spcAft>
                <a:spcPts val="200"/>
              </a:spcAft>
              <a:defRPr sz="1000"/>
            </a:pPr>
            <a:r>
              <a:rPr dirty="0"/>
              <a:t>   • </a:t>
            </a:r>
            <a:r>
              <a:rPr dirty="0" err="1"/>
              <a:t>Recommandation</a:t>
            </a:r>
            <a:r>
              <a:rPr dirty="0"/>
              <a:t> : </a:t>
            </a:r>
            <a:r>
              <a:rPr dirty="0" err="1"/>
              <a:t>θ_or</a:t>
            </a:r>
            <a:r>
              <a:rPr dirty="0"/>
              <a:t> &lt; 45° pour </a:t>
            </a:r>
            <a:r>
              <a:rPr dirty="0" err="1"/>
              <a:t>mouillage</a:t>
            </a:r>
            <a:r>
              <a:rPr dirty="0"/>
              <a:t> optimal</a:t>
            </a:r>
          </a:p>
          <a:p>
            <a:pPr>
              <a:spcAft>
                <a:spcPts val="200"/>
              </a:spcAft>
              <a:defRPr sz="1000"/>
            </a:pPr>
            <a:endParaRPr dirty="0"/>
          </a:p>
          <a:p>
            <a:pPr>
              <a:spcAft>
                <a:spcPts val="200"/>
              </a:spcAft>
              <a:defRPr sz="1300" b="1">
                <a:solidFill>
                  <a:srgbClr val="0072BC"/>
                </a:solidFill>
              </a:defRPr>
            </a:pPr>
            <a:r>
              <a:rPr dirty="0"/>
              <a:t>2. VISCOSITÉ AU REPOS η₀ (</a:t>
            </a:r>
            <a:r>
              <a:rPr dirty="0" err="1"/>
              <a:t>effet</a:t>
            </a:r>
            <a:r>
              <a:rPr dirty="0"/>
              <a:t> IMPORTANT)</a:t>
            </a:r>
          </a:p>
          <a:p>
            <a:pPr lvl="2">
              <a:spcAft>
                <a:spcPts val="200"/>
              </a:spcAft>
              <a:defRPr sz="1000"/>
            </a:pPr>
            <a:r>
              <a:rPr dirty="0"/>
              <a:t>   • Plage 0.5-5 </a:t>
            </a:r>
            <a:r>
              <a:rPr dirty="0" err="1"/>
              <a:t>Pa·s</a:t>
            </a:r>
            <a:r>
              <a:rPr dirty="0"/>
              <a:t> : </a:t>
            </a:r>
            <a:r>
              <a:rPr dirty="0" err="1"/>
              <a:t>étalement</a:t>
            </a:r>
            <a:r>
              <a:rPr dirty="0"/>
              <a:t> </a:t>
            </a:r>
            <a:r>
              <a:rPr dirty="0" err="1"/>
              <a:t>divisé</a:t>
            </a:r>
            <a:r>
              <a:rPr dirty="0"/>
              <a:t> par 2-3</a:t>
            </a:r>
          </a:p>
          <a:p>
            <a:pPr lvl="2">
              <a:spcAft>
                <a:spcPts val="200"/>
              </a:spcAft>
              <a:defRPr sz="1000"/>
            </a:pPr>
            <a:r>
              <a:rPr dirty="0"/>
              <a:t>   • Temps </a:t>
            </a:r>
            <a:r>
              <a:rPr dirty="0" err="1"/>
              <a:t>caractéristique</a:t>
            </a:r>
            <a:r>
              <a:rPr dirty="0"/>
              <a:t> </a:t>
            </a:r>
            <a:r>
              <a:rPr dirty="0" err="1"/>
              <a:t>d'étalement</a:t>
            </a:r>
            <a:r>
              <a:rPr dirty="0"/>
              <a:t>: τ ∝ η/σ</a:t>
            </a:r>
          </a:p>
          <a:p>
            <a:pPr lvl="2">
              <a:spcAft>
                <a:spcPts val="200"/>
              </a:spcAft>
              <a:defRPr sz="1000"/>
            </a:pPr>
            <a:r>
              <a:rPr dirty="0"/>
              <a:t>   • </a:t>
            </a:r>
            <a:r>
              <a:rPr dirty="0" err="1"/>
              <a:t>Compromis</a:t>
            </a:r>
            <a:r>
              <a:rPr dirty="0"/>
              <a:t> : η </a:t>
            </a:r>
            <a:r>
              <a:rPr dirty="0" err="1"/>
              <a:t>faible</a:t>
            </a:r>
            <a:r>
              <a:rPr dirty="0"/>
              <a:t> (</a:t>
            </a:r>
            <a:r>
              <a:rPr dirty="0" err="1"/>
              <a:t>étalement</a:t>
            </a:r>
            <a:r>
              <a:rPr dirty="0"/>
              <a:t>) vs η </a:t>
            </a:r>
            <a:r>
              <a:rPr dirty="0" err="1"/>
              <a:t>élevé</a:t>
            </a:r>
            <a:r>
              <a:rPr dirty="0"/>
              <a:t> (</a:t>
            </a:r>
            <a:r>
              <a:rPr dirty="0" err="1"/>
              <a:t>stabilité</a:t>
            </a:r>
            <a:r>
              <a:rPr dirty="0"/>
              <a:t> </a:t>
            </a:r>
            <a:r>
              <a:rPr dirty="0" err="1"/>
              <a:t>forme</a:t>
            </a:r>
            <a:r>
              <a:rPr dirty="0"/>
              <a:t>)</a:t>
            </a:r>
          </a:p>
          <a:p>
            <a:pPr lvl="2">
              <a:spcAft>
                <a:spcPts val="200"/>
              </a:spcAft>
              <a:defRPr sz="1000"/>
            </a:pPr>
            <a:r>
              <a:rPr dirty="0"/>
              <a:t>   • Optimal </a:t>
            </a:r>
            <a:r>
              <a:rPr dirty="0" err="1"/>
              <a:t>identifié</a:t>
            </a:r>
            <a:r>
              <a:rPr dirty="0"/>
              <a:t> : η₀ = 1-2 </a:t>
            </a:r>
            <a:r>
              <a:rPr dirty="0" err="1"/>
              <a:t>Pa·s</a:t>
            </a:r>
            <a:r>
              <a:rPr dirty="0"/>
              <a:t> pour </a:t>
            </a:r>
            <a:r>
              <a:rPr dirty="0" err="1"/>
              <a:t>nos</a:t>
            </a:r>
            <a:r>
              <a:rPr dirty="0"/>
              <a:t> applications</a:t>
            </a:r>
          </a:p>
          <a:p>
            <a:pPr>
              <a:spcAft>
                <a:spcPts val="200"/>
              </a:spcAft>
              <a:defRPr sz="1000"/>
            </a:pPr>
            <a:endParaRPr dirty="0"/>
          </a:p>
          <a:p>
            <a:pPr>
              <a:spcAft>
                <a:spcPts val="200"/>
              </a:spcAft>
              <a:defRPr sz="1300" b="1">
                <a:solidFill>
                  <a:srgbClr val="0072BC"/>
                </a:solidFill>
              </a:defRPr>
            </a:pPr>
            <a:r>
              <a:rPr dirty="0"/>
              <a:t>3. RATIO GÉOMÉTRIQUE </a:t>
            </a:r>
            <a:r>
              <a:rPr dirty="0" err="1"/>
              <a:t>D_needle</a:t>
            </a:r>
            <a:r>
              <a:rPr dirty="0"/>
              <a:t>/</a:t>
            </a:r>
            <a:r>
              <a:rPr dirty="0" err="1"/>
              <a:t>D_well</a:t>
            </a:r>
            <a:r>
              <a:rPr dirty="0"/>
              <a:t> (</a:t>
            </a:r>
            <a:r>
              <a:rPr dirty="0" err="1"/>
              <a:t>effet</a:t>
            </a:r>
            <a:r>
              <a:rPr dirty="0"/>
              <a:t> MODÉRÉ)</a:t>
            </a:r>
          </a:p>
          <a:p>
            <a:pPr lvl="2">
              <a:spcAft>
                <a:spcPts val="200"/>
              </a:spcAft>
              <a:defRPr sz="1000"/>
            </a:pPr>
            <a:r>
              <a:rPr dirty="0"/>
              <a:t>   • Ratio critique ≈ 0.25-0.35 pour </a:t>
            </a:r>
            <a:r>
              <a:rPr dirty="0" err="1"/>
              <a:t>remplissage</a:t>
            </a:r>
            <a:r>
              <a:rPr dirty="0"/>
              <a:t> 80%</a:t>
            </a:r>
          </a:p>
          <a:p>
            <a:pPr lvl="2">
              <a:spcAft>
                <a:spcPts val="200"/>
              </a:spcAft>
              <a:defRPr sz="1000"/>
            </a:pPr>
            <a:r>
              <a:rPr dirty="0"/>
              <a:t>   • Ratio &lt; 0.25 : sous-</a:t>
            </a:r>
            <a:r>
              <a:rPr dirty="0" err="1"/>
              <a:t>remplissage</a:t>
            </a:r>
            <a:r>
              <a:rPr dirty="0"/>
              <a:t>, </a:t>
            </a:r>
            <a:r>
              <a:rPr dirty="0" err="1"/>
              <a:t>bulles</a:t>
            </a:r>
            <a:r>
              <a:rPr dirty="0"/>
              <a:t> </a:t>
            </a:r>
            <a:r>
              <a:rPr dirty="0" err="1"/>
              <a:t>d'air</a:t>
            </a:r>
            <a:endParaRPr dirty="0"/>
          </a:p>
          <a:p>
            <a:pPr lvl="2">
              <a:spcAft>
                <a:spcPts val="200"/>
              </a:spcAft>
              <a:defRPr sz="1000"/>
            </a:pPr>
            <a:r>
              <a:rPr dirty="0"/>
              <a:t>   • Ratio &gt; 0.35 : </a:t>
            </a:r>
            <a:r>
              <a:rPr dirty="0" err="1"/>
              <a:t>débordement</a:t>
            </a:r>
            <a:r>
              <a:rPr dirty="0"/>
              <a:t>, </a:t>
            </a:r>
            <a:r>
              <a:rPr dirty="0" err="1"/>
              <a:t>perte</a:t>
            </a:r>
            <a:r>
              <a:rPr dirty="0"/>
              <a:t> de </a:t>
            </a:r>
            <a:r>
              <a:rPr dirty="0" err="1"/>
              <a:t>contrôle</a:t>
            </a:r>
            <a:endParaRPr dirty="0"/>
          </a:p>
          <a:p>
            <a:pPr lvl="2">
              <a:spcAft>
                <a:spcPts val="200"/>
              </a:spcAft>
              <a:defRPr sz="1000"/>
            </a:pPr>
            <a:r>
              <a:rPr dirty="0"/>
              <a:t>   • Configuration </a:t>
            </a:r>
            <a:r>
              <a:rPr dirty="0" err="1"/>
              <a:t>actuelle</a:t>
            </a:r>
            <a:r>
              <a:rPr dirty="0"/>
              <a:t> (250/800 = 0.31) </a:t>
            </a:r>
            <a:r>
              <a:rPr dirty="0" err="1"/>
              <a:t>validée</a:t>
            </a:r>
            <a:endParaRPr dirty="0"/>
          </a:p>
          <a:p>
            <a:pPr>
              <a:spcAft>
                <a:spcPts val="200"/>
              </a:spcAft>
              <a:defRPr sz="1000"/>
            </a:pPr>
            <a:endParaRPr dirty="0"/>
          </a:p>
          <a:p>
            <a:pPr>
              <a:spcAft>
                <a:spcPts val="200"/>
              </a:spcAft>
              <a:defRPr sz="1300" b="1">
                <a:solidFill>
                  <a:srgbClr val="0072BC"/>
                </a:solidFill>
              </a:defRPr>
            </a:pPr>
            <a:r>
              <a:rPr dirty="0"/>
              <a:t>4. DENSITÉ </a:t>
            </a:r>
            <a:r>
              <a:rPr dirty="0" err="1"/>
              <a:t>ρ_ink</a:t>
            </a:r>
            <a:r>
              <a:rPr dirty="0"/>
              <a:t> (</a:t>
            </a:r>
            <a:r>
              <a:rPr dirty="0" err="1"/>
              <a:t>effet</a:t>
            </a:r>
            <a:r>
              <a:rPr dirty="0"/>
              <a:t> FAIBLE)</a:t>
            </a:r>
          </a:p>
          <a:p>
            <a:pPr lvl="2">
              <a:spcAft>
                <a:spcPts val="200"/>
              </a:spcAft>
              <a:defRPr sz="1000"/>
            </a:pPr>
            <a:r>
              <a:rPr dirty="0"/>
              <a:t>   • Variation 2200-3000 kg/m³ : impact &lt;5% sur </a:t>
            </a:r>
            <a:r>
              <a:rPr dirty="0" err="1"/>
              <a:t>forme</a:t>
            </a:r>
            <a:endParaRPr dirty="0"/>
          </a:p>
          <a:p>
            <a:pPr lvl="2">
              <a:spcAft>
                <a:spcPts val="200"/>
              </a:spcAft>
              <a:defRPr sz="1000"/>
            </a:pPr>
            <a:r>
              <a:rPr dirty="0"/>
              <a:t>   • Justification : Bond Bo&lt;&lt;1 (</a:t>
            </a:r>
            <a:r>
              <a:rPr dirty="0" err="1"/>
              <a:t>gravité</a:t>
            </a:r>
            <a:r>
              <a:rPr dirty="0"/>
              <a:t> </a:t>
            </a:r>
            <a:r>
              <a:rPr dirty="0" err="1"/>
              <a:t>négligeable</a:t>
            </a:r>
            <a:r>
              <a:rPr dirty="0"/>
              <a:t> à </a:t>
            </a:r>
            <a:r>
              <a:rPr dirty="0" err="1"/>
              <a:t>cette</a:t>
            </a:r>
            <a:r>
              <a:rPr dirty="0"/>
              <a:t> </a:t>
            </a:r>
            <a:r>
              <a:rPr dirty="0" err="1"/>
              <a:t>échelle</a:t>
            </a:r>
            <a:r>
              <a:rPr dirty="0"/>
              <a:t>)</a:t>
            </a:r>
          </a:p>
          <a:p>
            <a:pPr lvl="2">
              <a:spcAft>
                <a:spcPts val="200"/>
              </a:spcAft>
              <a:defRPr sz="1000"/>
            </a:pPr>
            <a:r>
              <a:rPr dirty="0"/>
              <a:t>   • Pas de </a:t>
            </a:r>
            <a:r>
              <a:rPr dirty="0" err="1"/>
              <a:t>paramètre</a:t>
            </a:r>
            <a:r>
              <a:rPr dirty="0"/>
              <a:t> critique </a:t>
            </a:r>
            <a:r>
              <a:rPr dirty="0" err="1"/>
              <a:t>d'optimisation</a:t>
            </a:r>
            <a:endParaRPr dirty="0"/>
          </a:p>
          <a:p>
            <a:pPr>
              <a:spcAft>
                <a:spcPts val="200"/>
              </a:spcAft>
              <a:defRPr sz="1000"/>
            </a:pPr>
            <a:endParaRPr dirty="0"/>
          </a:p>
          <a:p>
            <a:pPr>
              <a:spcAft>
                <a:spcPts val="200"/>
              </a:spcAft>
              <a:defRPr sz="1300" b="1">
                <a:solidFill>
                  <a:srgbClr val="0072BC"/>
                </a:solidFill>
              </a:defRPr>
            </a:pPr>
            <a:r>
              <a:rPr dirty="0"/>
              <a:t>5. DÉCALAGE HORIZONTAL </a:t>
            </a:r>
            <a:r>
              <a:rPr dirty="0" err="1"/>
              <a:t>Δx</a:t>
            </a:r>
            <a:r>
              <a:rPr dirty="0"/>
              <a:t> (</a:t>
            </a:r>
            <a:r>
              <a:rPr dirty="0" err="1"/>
              <a:t>effet</a:t>
            </a:r>
            <a:r>
              <a:rPr dirty="0"/>
              <a:t> SPÉCIFIQUE)</a:t>
            </a:r>
          </a:p>
          <a:p>
            <a:pPr lvl="2">
              <a:spcAft>
                <a:spcPts val="200"/>
              </a:spcAft>
              <a:defRPr sz="1000"/>
            </a:pPr>
            <a:r>
              <a:rPr dirty="0"/>
              <a:t>   • </a:t>
            </a:r>
            <a:r>
              <a:rPr dirty="0" err="1"/>
              <a:t>Centré</a:t>
            </a:r>
            <a:r>
              <a:rPr dirty="0"/>
              <a:t> (</a:t>
            </a:r>
            <a:r>
              <a:rPr dirty="0" err="1"/>
              <a:t>Δx</a:t>
            </a:r>
            <a:r>
              <a:rPr dirty="0"/>
              <a:t>=0) : </a:t>
            </a:r>
            <a:r>
              <a:rPr dirty="0" err="1"/>
              <a:t>symétrie</a:t>
            </a:r>
            <a:r>
              <a:rPr dirty="0"/>
              <a:t> </a:t>
            </a:r>
            <a:r>
              <a:rPr dirty="0" err="1"/>
              <a:t>parfaite</a:t>
            </a:r>
            <a:endParaRPr dirty="0"/>
          </a:p>
          <a:p>
            <a:pPr lvl="2">
              <a:spcAft>
                <a:spcPts val="200"/>
              </a:spcAft>
              <a:defRPr sz="1000"/>
            </a:pPr>
            <a:r>
              <a:rPr dirty="0"/>
              <a:t>   • </a:t>
            </a:r>
            <a:r>
              <a:rPr dirty="0" err="1"/>
              <a:t>Décalé</a:t>
            </a:r>
            <a:r>
              <a:rPr dirty="0"/>
              <a:t> (</a:t>
            </a:r>
            <a:r>
              <a:rPr dirty="0" err="1"/>
              <a:t>Δx</a:t>
            </a:r>
            <a:r>
              <a:rPr dirty="0"/>
              <a:t>=-75µm) : </a:t>
            </a:r>
            <a:r>
              <a:rPr dirty="0" err="1"/>
              <a:t>asymétrie</a:t>
            </a:r>
            <a:r>
              <a:rPr dirty="0"/>
              <a:t> contrôlée, </a:t>
            </a:r>
            <a:r>
              <a:rPr dirty="0" err="1"/>
              <a:t>possibilité</a:t>
            </a:r>
            <a:r>
              <a:rPr dirty="0"/>
              <a:t> de </a:t>
            </a:r>
            <a:r>
              <a:rPr dirty="0" err="1"/>
              <a:t>cibler</a:t>
            </a:r>
            <a:r>
              <a:rPr dirty="0"/>
              <a:t> zones</a:t>
            </a:r>
          </a:p>
          <a:p>
            <a:pPr lvl="2">
              <a:spcAft>
                <a:spcPts val="200"/>
              </a:spcAft>
              <a:defRPr sz="1000"/>
            </a:pPr>
            <a:r>
              <a:rPr dirty="0"/>
              <a:t>   • Utile pour applications </a:t>
            </a:r>
            <a:r>
              <a:rPr dirty="0" err="1"/>
              <a:t>spécifiques</a:t>
            </a:r>
            <a:r>
              <a:rPr dirty="0"/>
              <a:t> (</a:t>
            </a:r>
            <a:r>
              <a:rPr dirty="0" err="1"/>
              <a:t>électrodes</a:t>
            </a:r>
            <a:r>
              <a:rPr dirty="0"/>
              <a:t> </a:t>
            </a:r>
            <a:r>
              <a:rPr dirty="0" err="1"/>
              <a:t>segmentées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1000"/>
            </a:pPr>
            <a:endParaRPr dirty="0"/>
          </a:p>
          <a:p>
            <a:pPr>
              <a:spcAft>
                <a:spcPts val="200"/>
              </a:spcAft>
              <a:defRPr sz="1300" b="1">
                <a:solidFill>
                  <a:srgbClr val="0072BC"/>
                </a:solidFill>
              </a:defRPr>
            </a:pPr>
            <a:r>
              <a:rPr dirty="0"/>
              <a:t>CONCLUSIONS &amp; PERSPECTIVES</a:t>
            </a:r>
          </a:p>
          <a:p>
            <a:pPr>
              <a:spcAft>
                <a:spcPts val="200"/>
              </a:spcAft>
              <a:defRPr sz="1000"/>
            </a:pPr>
            <a:endParaRPr dirty="0"/>
          </a:p>
          <a:p>
            <a:pPr>
              <a:spcAft>
                <a:spcPts val="200"/>
              </a:spcAft>
              <a:defRPr sz="1200" b="1"/>
            </a:pPr>
            <a:r>
              <a:rPr dirty="0"/>
              <a:t>✓ Validation du </a:t>
            </a:r>
            <a:r>
              <a:rPr dirty="0" err="1"/>
              <a:t>modèle</a:t>
            </a:r>
            <a:r>
              <a:rPr dirty="0"/>
              <a:t> Python/</a:t>
            </a:r>
            <a:r>
              <a:rPr dirty="0" err="1"/>
              <a:t>FEniCSx</a:t>
            </a:r>
            <a:endParaRPr dirty="0"/>
          </a:p>
          <a:p>
            <a:pPr>
              <a:spcAft>
                <a:spcPts val="200"/>
              </a:spcAft>
              <a:defRPr sz="1000"/>
            </a:pPr>
            <a:r>
              <a:rPr dirty="0"/>
              <a:t>  • Convergence qualitative et quantitative avec données </a:t>
            </a:r>
            <a:r>
              <a:rPr dirty="0" err="1"/>
              <a:t>expérimentales</a:t>
            </a:r>
            <a:endParaRPr dirty="0"/>
          </a:p>
          <a:p>
            <a:pPr>
              <a:spcAft>
                <a:spcPts val="200"/>
              </a:spcAft>
              <a:defRPr sz="1000"/>
            </a:pPr>
            <a:r>
              <a:rPr dirty="0"/>
              <a:t>  • Temps de </a:t>
            </a:r>
            <a:r>
              <a:rPr dirty="0" err="1"/>
              <a:t>calcul</a:t>
            </a:r>
            <a:r>
              <a:rPr dirty="0"/>
              <a:t> </a:t>
            </a:r>
            <a:r>
              <a:rPr dirty="0" err="1"/>
              <a:t>acceptables</a:t>
            </a:r>
            <a:r>
              <a:rPr dirty="0"/>
              <a:t> (10-20 min/simulation)</a:t>
            </a:r>
          </a:p>
          <a:p>
            <a:pPr>
              <a:spcAft>
                <a:spcPts val="200"/>
              </a:spcAft>
              <a:defRPr sz="1000"/>
            </a:pPr>
            <a:r>
              <a:rPr dirty="0"/>
              <a:t>  • Alternative </a:t>
            </a:r>
            <a:r>
              <a:rPr dirty="0" err="1"/>
              <a:t>crédible</a:t>
            </a:r>
            <a:r>
              <a:rPr dirty="0"/>
              <a:t> à COMSOL Multiphysics</a:t>
            </a:r>
          </a:p>
          <a:p>
            <a:pPr>
              <a:spcAft>
                <a:spcPts val="200"/>
              </a:spcAft>
              <a:defRPr sz="1000"/>
            </a:pPr>
            <a:endParaRPr dirty="0"/>
          </a:p>
          <a:p>
            <a:pPr>
              <a:spcAft>
                <a:spcPts val="200"/>
              </a:spcAft>
              <a:defRPr sz="1200" b="1"/>
            </a:pPr>
            <a:r>
              <a:rPr dirty="0"/>
              <a:t>→ Interface </a:t>
            </a:r>
            <a:r>
              <a:rPr dirty="0" err="1"/>
              <a:t>Streamlit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cours</a:t>
            </a:r>
            <a:r>
              <a:rPr dirty="0"/>
              <a:t> de </a:t>
            </a:r>
            <a:r>
              <a:rPr dirty="0" err="1"/>
              <a:t>développement</a:t>
            </a:r>
            <a:endParaRPr dirty="0"/>
          </a:p>
          <a:p>
            <a:pPr>
              <a:spcAft>
                <a:spcPts val="200"/>
              </a:spcAft>
              <a:defRPr sz="1000"/>
            </a:pPr>
            <a:r>
              <a:rPr dirty="0"/>
              <a:t>  • </a:t>
            </a:r>
            <a:r>
              <a:rPr dirty="0" err="1"/>
              <a:t>Permettra</a:t>
            </a:r>
            <a:r>
              <a:rPr dirty="0"/>
              <a:t> exploration interactive de </a:t>
            </a:r>
            <a:r>
              <a:rPr dirty="0" err="1"/>
              <a:t>l'espace</a:t>
            </a:r>
            <a:r>
              <a:rPr dirty="0"/>
              <a:t> </a:t>
            </a:r>
            <a:r>
              <a:rPr dirty="0" err="1"/>
              <a:t>paramétrique</a:t>
            </a:r>
            <a:endParaRPr dirty="0"/>
          </a:p>
          <a:p>
            <a:pPr>
              <a:spcAft>
                <a:spcPts val="200"/>
              </a:spcAft>
              <a:defRPr sz="1000"/>
            </a:pPr>
            <a:r>
              <a:rPr dirty="0"/>
              <a:t>  • </a:t>
            </a:r>
            <a:r>
              <a:rPr dirty="0" err="1"/>
              <a:t>Intégration</a:t>
            </a:r>
            <a:r>
              <a:rPr dirty="0"/>
              <a:t> de </a:t>
            </a:r>
            <a:r>
              <a:rPr dirty="0" err="1"/>
              <a:t>métamodèles</a:t>
            </a:r>
            <a:r>
              <a:rPr dirty="0"/>
              <a:t> (kriging/NN) pour </a:t>
            </a:r>
            <a:r>
              <a:rPr dirty="0" err="1"/>
              <a:t>prédictions</a:t>
            </a:r>
            <a:r>
              <a:rPr dirty="0"/>
              <a:t> </a:t>
            </a:r>
            <a:r>
              <a:rPr dirty="0" err="1"/>
              <a:t>instantanées</a:t>
            </a:r>
            <a:endParaRPr dirty="0"/>
          </a:p>
          <a:p>
            <a:pPr>
              <a:spcAft>
                <a:spcPts val="200"/>
              </a:spcAft>
              <a:defRPr sz="1000"/>
            </a:pPr>
            <a:r>
              <a:rPr dirty="0"/>
              <a:t>  • </a:t>
            </a:r>
            <a:r>
              <a:rPr dirty="0" err="1"/>
              <a:t>Déploiement</a:t>
            </a:r>
            <a:r>
              <a:rPr dirty="0"/>
              <a:t> interne pour équipe R&amp;D biosensors</a:t>
            </a:r>
          </a:p>
          <a:p>
            <a:pPr>
              <a:spcAft>
                <a:spcPts val="200"/>
              </a:spcAft>
              <a:defRPr sz="1000"/>
            </a:pPr>
            <a:endParaRPr dirty="0"/>
          </a:p>
          <a:p>
            <a:pPr>
              <a:spcAft>
                <a:spcPts val="200"/>
              </a:spcAft>
              <a:defRPr sz="1200" b="1"/>
            </a:pPr>
            <a:r>
              <a:rPr dirty="0"/>
              <a:t>⚡ </a:t>
            </a:r>
            <a:r>
              <a:rPr dirty="0" err="1"/>
              <a:t>Élargissement</a:t>
            </a:r>
            <a:r>
              <a:rPr dirty="0"/>
              <a:t> de </a:t>
            </a:r>
            <a:r>
              <a:rPr dirty="0" err="1"/>
              <a:t>l'espace</a:t>
            </a:r>
            <a:r>
              <a:rPr dirty="0"/>
              <a:t> </a:t>
            </a:r>
            <a:r>
              <a:rPr dirty="0" err="1"/>
              <a:t>paramétrique</a:t>
            </a:r>
            <a:endParaRPr dirty="0"/>
          </a:p>
          <a:p>
            <a:pPr>
              <a:spcAft>
                <a:spcPts val="200"/>
              </a:spcAft>
              <a:defRPr sz="1000"/>
            </a:pPr>
            <a:r>
              <a:rPr dirty="0"/>
              <a:t>  • </a:t>
            </a:r>
            <a:r>
              <a:rPr dirty="0" err="1"/>
              <a:t>Intégration</a:t>
            </a:r>
            <a:r>
              <a:rPr dirty="0"/>
              <a:t> de nouveaux designs de </a:t>
            </a:r>
            <a:r>
              <a:rPr dirty="0" err="1"/>
              <a:t>puits</a:t>
            </a:r>
            <a:r>
              <a:rPr dirty="0"/>
              <a:t> (non-</a:t>
            </a:r>
            <a:r>
              <a:rPr dirty="0" err="1"/>
              <a:t>cylindriques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1000"/>
            </a:pPr>
            <a:r>
              <a:rPr dirty="0"/>
              <a:t>  • </a:t>
            </a:r>
            <a:r>
              <a:rPr dirty="0" err="1"/>
              <a:t>Encres</a:t>
            </a:r>
            <a:r>
              <a:rPr dirty="0"/>
              <a:t> avec </a:t>
            </a:r>
            <a:r>
              <a:rPr dirty="0" err="1"/>
              <a:t>propriétés</a:t>
            </a:r>
            <a:r>
              <a:rPr dirty="0"/>
              <a:t> variables (</a:t>
            </a:r>
            <a:r>
              <a:rPr dirty="0" err="1"/>
              <a:t>autres</a:t>
            </a:r>
            <a:r>
              <a:rPr dirty="0"/>
              <a:t> formulations)</a:t>
            </a:r>
          </a:p>
          <a:p>
            <a:pPr>
              <a:spcAft>
                <a:spcPts val="200"/>
              </a:spcAft>
              <a:defRPr sz="1000"/>
            </a:pPr>
            <a:r>
              <a:rPr dirty="0"/>
              <a:t>  • </a:t>
            </a:r>
            <a:r>
              <a:rPr dirty="0" err="1"/>
              <a:t>Couplage</a:t>
            </a:r>
            <a:r>
              <a:rPr dirty="0"/>
              <a:t> avec </a:t>
            </a:r>
            <a:r>
              <a:rPr dirty="0" err="1"/>
              <a:t>modèles</a:t>
            </a:r>
            <a:r>
              <a:rPr dirty="0"/>
              <a:t> de </a:t>
            </a:r>
            <a:r>
              <a:rPr dirty="0" err="1"/>
              <a:t>séchage</a:t>
            </a:r>
            <a:r>
              <a:rPr dirty="0"/>
              <a:t>/</a:t>
            </a:r>
            <a:r>
              <a:rPr dirty="0" err="1"/>
              <a:t>évaporation</a:t>
            </a:r>
            <a:endParaRPr dirty="0"/>
          </a:p>
          <a:p>
            <a:pPr>
              <a:spcAft>
                <a:spcPts val="200"/>
              </a:spcAft>
              <a:defRPr sz="1000"/>
            </a:pPr>
            <a:endParaRPr dirty="0"/>
          </a:p>
          <a:p>
            <a:pPr>
              <a:spcAft>
                <a:spcPts val="200"/>
              </a:spcAft>
              <a:defRPr sz="1200" b="1"/>
            </a:pPr>
            <a:r>
              <a:rPr dirty="0"/>
              <a:t>📊 </a:t>
            </a:r>
            <a:r>
              <a:rPr dirty="0" err="1"/>
              <a:t>Couplage</a:t>
            </a:r>
            <a:r>
              <a:rPr dirty="0"/>
              <a:t> avec données </a:t>
            </a:r>
            <a:r>
              <a:rPr dirty="0" err="1"/>
              <a:t>expérimentales</a:t>
            </a:r>
            <a:r>
              <a:rPr dirty="0"/>
              <a:t> </a:t>
            </a:r>
            <a:r>
              <a:rPr dirty="0" err="1"/>
              <a:t>massives</a:t>
            </a:r>
            <a:endParaRPr dirty="0"/>
          </a:p>
          <a:p>
            <a:pPr>
              <a:spcAft>
                <a:spcPts val="200"/>
              </a:spcAft>
              <a:defRPr sz="1000"/>
            </a:pPr>
            <a:r>
              <a:rPr dirty="0"/>
              <a:t>  • Base de données &gt;100 dispenses </a:t>
            </a:r>
            <a:r>
              <a:rPr dirty="0" err="1"/>
              <a:t>réelles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cours</a:t>
            </a:r>
            <a:r>
              <a:rPr dirty="0"/>
              <a:t> de constitution</a:t>
            </a:r>
          </a:p>
          <a:p>
            <a:pPr>
              <a:spcAft>
                <a:spcPts val="200"/>
              </a:spcAft>
              <a:defRPr sz="1000"/>
            </a:pPr>
            <a:r>
              <a:rPr dirty="0"/>
              <a:t>  • Calibration fine des </a:t>
            </a:r>
            <a:r>
              <a:rPr dirty="0" err="1"/>
              <a:t>paramètres</a:t>
            </a:r>
            <a:r>
              <a:rPr dirty="0"/>
              <a:t> </a:t>
            </a:r>
            <a:r>
              <a:rPr dirty="0" err="1"/>
              <a:t>rhéologiques</a:t>
            </a:r>
            <a:endParaRPr dirty="0"/>
          </a:p>
          <a:p>
            <a:pPr>
              <a:spcAft>
                <a:spcPts val="200"/>
              </a:spcAft>
              <a:defRPr sz="1000"/>
            </a:pPr>
            <a:r>
              <a:rPr dirty="0"/>
              <a:t>  • Machine Learning pour </a:t>
            </a:r>
            <a:r>
              <a:rPr dirty="0" err="1"/>
              <a:t>prédiction</a:t>
            </a:r>
            <a:r>
              <a:rPr dirty="0"/>
              <a:t> </a:t>
            </a:r>
            <a:r>
              <a:rPr dirty="0" err="1"/>
              <a:t>robuste</a:t>
            </a:r>
            <a:r>
              <a:rPr dirty="0"/>
              <a:t> (Gaussian Process Regression)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2BC"/>
                </a:solidFill>
              </a:defRPr>
            </a:pPr>
            <a:r>
              <a:t>Annexe 1 - Architecture code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31.10.25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6400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C00000"/>
                </a:solidFill>
              </a:defRPr>
            </a:pPr>
            <a:r>
              <a:t>Confidential. Not to be reproduced without the permission of Linxens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000"/>
            </a:pPr>
            <a:r>
              <a:t>STRUCTURE MODULAIRE DU CODE</a:t>
            </a:r>
          </a:p>
          <a:p>
            <a:pPr>
              <a:spcAft>
                <a:spcPts val="200"/>
              </a:spcAft>
              <a:defRPr sz="1000"/>
            </a:pPr>
            <a:endParaRPr/>
          </a:p>
          <a:p>
            <a:pPr>
              <a:spcAft>
                <a:spcPts val="200"/>
              </a:spcAft>
              <a:defRPr sz="1300" b="1">
                <a:solidFill>
                  <a:srgbClr val="0072BC"/>
                </a:solidFill>
              </a:defRPr>
            </a:pPr>
            <a:r>
              <a:t>📦 ink_dispense_simulation.py (classe principale)</a:t>
            </a:r>
          </a:p>
          <a:p>
            <a:pPr>
              <a:spcAft>
                <a:spcPts val="200"/>
              </a:spcAft>
              <a:defRPr sz="900">
                <a:latin typeface="Courier New"/>
              </a:defRPr>
            </a:pPr>
            <a:r>
              <a:t>   ├─ __init__(params)          # Initialisation paramètres</a:t>
            </a:r>
          </a:p>
          <a:p>
            <a:pPr>
              <a:spcAft>
                <a:spcPts val="200"/>
              </a:spcAft>
              <a:defRPr sz="900">
                <a:latin typeface="Courier New"/>
              </a:defRPr>
            </a:pPr>
            <a:r>
              <a:t>   ├─ create_mesh()             # Génération maillage 2D axisymétrique</a:t>
            </a:r>
          </a:p>
          <a:p>
            <a:pPr>
              <a:spcAft>
                <a:spcPts val="200"/>
              </a:spcAft>
              <a:defRPr sz="900">
                <a:latin typeface="Courier New"/>
              </a:defRPr>
            </a:pPr>
            <a:r>
              <a:t>   ├─ setup_function_spaces()   # Espaces fonctionnels FEniCS (P2-P1)</a:t>
            </a:r>
          </a:p>
          <a:p>
            <a:pPr>
              <a:spcAft>
                <a:spcPts val="200"/>
              </a:spcAft>
              <a:defRPr sz="900">
                <a:latin typeface="Courier New"/>
              </a:defRPr>
            </a:pPr>
            <a:r>
              <a:t>   ├─ setup_boundary_conditions() # CL (angles contact, vitesse, pression)</a:t>
            </a:r>
          </a:p>
          <a:p>
            <a:pPr>
              <a:spcAft>
                <a:spcPts val="200"/>
              </a:spcAft>
              <a:defRPr sz="900">
                <a:latin typeface="Courier New"/>
              </a:defRPr>
            </a:pPr>
            <a:r>
              <a:t>   ├─ setup_variational_forms() # Formulations variationnelles</a:t>
            </a:r>
          </a:p>
          <a:p>
            <a:pPr>
              <a:spcAft>
                <a:spcPts val="200"/>
              </a:spcAft>
              <a:defRPr sz="900">
                <a:latin typeface="Courier New"/>
              </a:defRPr>
            </a:pPr>
            <a:r>
              <a:t>   ├─ time_stepping_loop()      # Boucle temporelle principale</a:t>
            </a:r>
          </a:p>
          <a:p>
            <a:pPr>
              <a:spcAft>
                <a:spcPts val="200"/>
              </a:spcAft>
              <a:defRPr sz="900">
                <a:latin typeface="Courier New"/>
              </a:defRPr>
            </a:pPr>
            <a:r>
              <a:t>   ├─ compute_metrics()         # Calcul taux remplissage, angles</a:t>
            </a:r>
          </a:p>
          <a:p>
            <a:pPr>
              <a:spcAft>
                <a:spcPts val="200"/>
              </a:spcAft>
              <a:defRPr sz="900">
                <a:latin typeface="Courier New"/>
              </a:defRPr>
            </a:pPr>
            <a:r>
              <a:t>   ├─ export_results()          # Export VTK/XDMF pour visualisation</a:t>
            </a:r>
          </a:p>
          <a:p>
            <a:pPr>
              <a:spcAft>
                <a:spcPts val="200"/>
              </a:spcAft>
              <a:defRPr sz="900">
                <a:latin typeface="Courier New"/>
              </a:defRPr>
            </a:pPr>
            <a:r>
              <a:t>   └─ create_gif()              # Génération animations</a:t>
            </a:r>
          </a:p>
          <a:p>
            <a:pPr>
              <a:spcAft>
                <a:spcPts val="200"/>
              </a:spcAft>
              <a:defRPr sz="1000"/>
            </a:pPr>
            <a:endParaRPr/>
          </a:p>
          <a:p>
            <a:pPr>
              <a:spcAft>
                <a:spcPts val="200"/>
              </a:spcAft>
              <a:defRPr sz="1300" b="1">
                <a:solidFill>
                  <a:srgbClr val="0072BC"/>
                </a:solidFill>
              </a:defRPr>
            </a:pPr>
            <a:r>
              <a:t>🔧 Modules auxiliaires</a:t>
            </a:r>
          </a:p>
          <a:p>
            <a:pPr>
              <a:spcAft>
                <a:spcPts val="200"/>
              </a:spcAft>
              <a:defRPr sz="900">
                <a:latin typeface="Courier New"/>
              </a:defRPr>
            </a:pPr>
            <a:r>
              <a:t>   • carreau_viscosity.py       # Modèle rhéologique non-newtonien</a:t>
            </a:r>
          </a:p>
          <a:p>
            <a:pPr>
              <a:spcAft>
                <a:spcPts val="200"/>
              </a:spcAft>
              <a:defRPr sz="900">
                <a:latin typeface="Courier New"/>
              </a:defRPr>
            </a:pPr>
            <a:r>
              <a:t>   • phase_field.py             # Transport interface, tension surface</a:t>
            </a:r>
          </a:p>
          <a:p>
            <a:pPr>
              <a:spcAft>
                <a:spcPts val="200"/>
              </a:spcAft>
              <a:defRPr sz="900">
                <a:latin typeface="Courier New"/>
              </a:defRPr>
            </a:pPr>
            <a:r>
              <a:t>   • mesh_generation.py         # Maillages adaptatifs</a:t>
            </a:r>
          </a:p>
          <a:p>
            <a:pPr>
              <a:spcAft>
                <a:spcPts val="200"/>
              </a:spcAft>
              <a:defRPr sz="900">
                <a:latin typeface="Courier New"/>
              </a:defRPr>
            </a:pPr>
            <a:r>
              <a:t>   • post_processing.py         # Analyse résultats, extraction métriques</a:t>
            </a:r>
          </a:p>
          <a:p>
            <a:pPr>
              <a:spcAft>
                <a:spcPts val="200"/>
              </a:spcAft>
              <a:defRPr sz="1000"/>
            </a:pPr>
            <a:endParaRPr/>
          </a:p>
          <a:p>
            <a:pPr>
              <a:spcAft>
                <a:spcPts val="200"/>
              </a:spcAft>
              <a:defRPr sz="1300" b="1">
                <a:solidFill>
                  <a:srgbClr val="0072BC"/>
                </a:solidFill>
              </a:defRPr>
            </a:pPr>
            <a:r>
              <a:t>🖥️ Interface utilisateur (en développement)</a:t>
            </a:r>
          </a:p>
          <a:p>
            <a:pPr>
              <a:spcAft>
                <a:spcPts val="200"/>
              </a:spcAft>
              <a:defRPr sz="900">
                <a:latin typeface="Courier New"/>
              </a:defRPr>
            </a:pPr>
            <a:r>
              <a:t>   • streamlit_app.py           # Interface web interactive</a:t>
            </a:r>
          </a:p>
          <a:p>
            <a:pPr>
              <a:spcAft>
                <a:spcPts val="200"/>
              </a:spcAft>
              <a:defRPr sz="900">
                <a:latin typeface="Courier New"/>
              </a:defRPr>
            </a:pPr>
            <a:r>
              <a:t>   • parameter_explorer.py      # Exploration espace paramétrique</a:t>
            </a:r>
          </a:p>
          <a:p>
            <a:pPr>
              <a:spcAft>
                <a:spcPts val="200"/>
              </a:spcAft>
              <a:defRPr sz="900">
                <a:latin typeface="Courier New"/>
              </a:defRPr>
            </a:pPr>
            <a:r>
              <a:t>   • surrogate_model.py         # Métamodèles prédictifs</a:t>
            </a:r>
          </a:p>
          <a:p>
            <a:pPr>
              <a:spcAft>
                <a:spcPts val="200"/>
              </a:spcAft>
              <a:defRPr sz="1000"/>
            </a:pPr>
            <a:endParaRPr/>
          </a:p>
          <a:p>
            <a:pPr>
              <a:spcAft>
                <a:spcPts val="200"/>
              </a:spcAft>
              <a:defRPr sz="1300" b="1">
                <a:solidFill>
                  <a:srgbClr val="0072BC"/>
                </a:solidFill>
              </a:defRPr>
            </a:pPr>
            <a:r>
              <a:t>WORKFLOW TYPIQUE</a:t>
            </a:r>
          </a:p>
          <a:p>
            <a:pPr>
              <a:spcAft>
                <a:spcPts val="200"/>
              </a:spcAft>
              <a:defRPr sz="1000"/>
            </a:pPr>
            <a:endParaRPr/>
          </a:p>
          <a:p>
            <a:pPr>
              <a:spcAft>
                <a:spcPts val="200"/>
              </a:spcAft>
              <a:defRPr sz="900">
                <a:latin typeface="Courier New"/>
              </a:defRPr>
            </a:pPr>
            <a:r>
              <a:t>1. Définition paramètres (dict Python)</a:t>
            </a:r>
          </a:p>
          <a:p>
            <a:pPr>
              <a:spcAft>
                <a:spcPts val="200"/>
              </a:spcAft>
              <a:defRPr sz="1000"/>
            </a:pPr>
            <a:r>
              <a:t>   params = {'well_diameter': 800e-6, 'viscosity': 1.5, ...}</a:t>
            </a:r>
          </a:p>
          <a:p>
            <a:pPr>
              <a:spcAft>
                <a:spcPts val="200"/>
              </a:spcAft>
              <a:defRPr sz="1000"/>
            </a:pPr>
            <a:endParaRPr/>
          </a:p>
          <a:p>
            <a:pPr>
              <a:spcAft>
                <a:spcPts val="200"/>
              </a:spcAft>
              <a:defRPr sz="900">
                <a:latin typeface="Courier New"/>
              </a:defRPr>
            </a:pPr>
            <a:r>
              <a:t>2. Initialisation simulation</a:t>
            </a:r>
          </a:p>
          <a:p>
            <a:pPr>
              <a:spcAft>
                <a:spcPts val="200"/>
              </a:spcAft>
              <a:defRPr sz="1000"/>
            </a:pPr>
            <a:r>
              <a:t>   sim = InkDispenseSimulation(params)</a:t>
            </a:r>
          </a:p>
          <a:p>
            <a:pPr>
              <a:spcAft>
                <a:spcPts val="200"/>
              </a:spcAft>
              <a:defRPr sz="1000"/>
            </a:pPr>
            <a:endParaRPr/>
          </a:p>
          <a:p>
            <a:pPr>
              <a:spcAft>
                <a:spcPts val="200"/>
              </a:spcAft>
              <a:defRPr sz="900">
                <a:latin typeface="Courier New"/>
              </a:defRPr>
            </a:pPr>
            <a:r>
              <a:t>3. Exécution</a:t>
            </a:r>
          </a:p>
          <a:p>
            <a:pPr>
              <a:spcAft>
                <a:spcPts val="200"/>
              </a:spcAft>
              <a:defRPr sz="1000"/>
            </a:pPr>
            <a:r>
              <a:t>   sim.run()  # Lance résolution temporelle complète</a:t>
            </a:r>
          </a:p>
          <a:p>
            <a:pPr>
              <a:spcAft>
                <a:spcPts val="200"/>
              </a:spcAft>
              <a:defRPr sz="1000"/>
            </a:pPr>
            <a:endParaRPr/>
          </a:p>
          <a:p>
            <a:pPr>
              <a:spcAft>
                <a:spcPts val="200"/>
              </a:spcAft>
              <a:defRPr sz="900">
                <a:latin typeface="Courier New"/>
              </a:defRPr>
            </a:pPr>
            <a:r>
              <a:t>4. Résultats</a:t>
            </a:r>
          </a:p>
          <a:p>
            <a:pPr>
              <a:spcAft>
                <a:spcPts val="200"/>
              </a:spcAft>
              <a:defRPr sz="900">
                <a:latin typeface="Courier New"/>
              </a:defRPr>
            </a:pPr>
            <a:r>
              <a:t>   • Fichiers VTK dans outputs/</a:t>
            </a:r>
          </a:p>
          <a:p>
            <a:pPr>
              <a:spcAft>
                <a:spcPts val="200"/>
              </a:spcAft>
              <a:defRPr sz="900">
                <a:latin typeface="Courier New"/>
              </a:defRPr>
            </a:pPr>
            <a:r>
              <a:t>   • Animation GIF dans outputs/simulation.gif</a:t>
            </a:r>
          </a:p>
          <a:p>
            <a:pPr>
              <a:spcAft>
                <a:spcPts val="200"/>
              </a:spcAft>
              <a:defRPr sz="900">
                <a:latin typeface="Courier New"/>
              </a:defRPr>
            </a:pPr>
            <a:r>
              <a:t>   • Métriques CSV dans outputs/metrics.csv</a:t>
            </a:r>
          </a:p>
          <a:p>
            <a:pPr>
              <a:spcAft>
                <a:spcPts val="200"/>
              </a:spcAft>
              <a:defRPr sz="1000"/>
            </a:pPr>
            <a:endParaRPr/>
          </a:p>
          <a:p>
            <a:pPr>
              <a:spcAft>
                <a:spcPts val="200"/>
              </a:spcAft>
              <a:defRPr sz="1300" b="1">
                <a:solidFill>
                  <a:srgbClr val="0072BC"/>
                </a:solidFill>
              </a:defRPr>
            </a:pPr>
            <a:r>
              <a:t>DÉPENDANCES PRINCIPALES</a:t>
            </a:r>
          </a:p>
          <a:p>
            <a:pPr>
              <a:spcAft>
                <a:spcPts val="200"/>
              </a:spcAft>
              <a:defRPr sz="1000"/>
            </a:pPr>
            <a:r>
              <a:t>• FEniCSx (dolfinx) : résolution EDP par éléments finis</a:t>
            </a:r>
          </a:p>
          <a:p>
            <a:pPr>
              <a:spcAft>
                <a:spcPts val="200"/>
              </a:spcAft>
              <a:defRPr sz="1000"/>
            </a:pPr>
            <a:r>
              <a:t>• PETSc/MPI : algèbre linéaire parallèle, solveurs</a:t>
            </a:r>
          </a:p>
          <a:p>
            <a:pPr>
              <a:spcAft>
                <a:spcPts val="200"/>
              </a:spcAft>
              <a:defRPr sz="1000"/>
            </a:pPr>
            <a:r>
              <a:t>• NumPy/SciPy : calculs numériques, post-traitement</a:t>
            </a:r>
          </a:p>
          <a:p>
            <a:pPr>
              <a:spcAft>
                <a:spcPts val="200"/>
              </a:spcAft>
              <a:defRPr sz="1000"/>
            </a:pPr>
            <a:r>
              <a:t>• Matplotlib : visualisations</a:t>
            </a:r>
          </a:p>
          <a:p>
            <a:pPr>
              <a:spcAft>
                <a:spcPts val="200"/>
              </a:spcAft>
              <a:defRPr sz="1000"/>
            </a:pPr>
            <a:r>
              <a:t>• Pillow : génération GIF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2BC"/>
                </a:solidFill>
              </a:defRPr>
            </a:pPr>
            <a:r>
              <a:t>Annexe 2 - Extraits de code clés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31.10.25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6400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C00000"/>
                </a:solidFill>
              </a:defRPr>
            </a:pPr>
            <a:r>
              <a:t>Confidential. Not to be reproduced without the permission of Linxens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200" b="1">
                <a:solidFill>
                  <a:srgbClr val="0072BC"/>
                </a:solidFill>
              </a:defRPr>
            </a:pPr>
            <a:r>
              <a:t>IMPLÉMENTATION ANGLE DE CONTACT (Phase-Field)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endParaRPr/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def apply_contact_angle_bc(phi, theta, mesh, facet_tag, marker):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"""Applique condition d'angle de contact sur frontière"""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# Définition espace fonctionnel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V = phi.function_space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# Condition aux limites de Neumann pour angle contact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# n_w · ∇φ = -(1/ε) * cos(θ)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n = FacetNormal(mesh)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cos_theta = cos(theta)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bc_expr = -(1/epsilon) * cos_theta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# Application sur marqueur de frontière spécifique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bc = DirichletBC(V, bc_expr, facet_tag, marker)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return bc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endParaRPr/>
          </a:p>
          <a:p>
            <a:pPr>
              <a:spcAft>
                <a:spcPts val="100"/>
              </a:spcAft>
              <a:defRPr sz="1200" b="1">
                <a:solidFill>
                  <a:srgbClr val="0072BC"/>
                </a:solidFill>
              </a:defRPr>
            </a:pPr>
            <a:r>
              <a:t>MODÈLE RHÉOLOGIQUE DE CARREAU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endParaRPr/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def carreau_viscosity(gamma_dot, eta_0, eta_inf, lambda_c, n):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"""Calcule viscosité selon modèle Carreau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η(γ̇) = η_∞ + (η_0 - η_∞)[1 + (λγ̇)²]^((n-1)/2)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"""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# Protection division par zéro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gamma_dot = conditional(gamma_dot &lt; 1e-10, 1e-10, gamma_dot)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# Formule Carreau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eta = eta_inf + (eta_0 - eta_inf) * \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      pow(1 + pow(lambda_c * gamma_dot, 2), (n - 1) / 2)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return eta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endParaRPr/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# Utilisation dans solveur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D = sym(grad(v))  # Tenseur taux déformation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gamma_dot = sqrt(2 * inner(D, D))  # Taux cisaillement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eta = carreau_viscosity(gamma_dot, eta_0, eta_inf, lambda_c, n)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endParaRPr/>
          </a:p>
          <a:p>
            <a:pPr>
              <a:spcAft>
                <a:spcPts val="100"/>
              </a:spcAft>
              <a:defRPr sz="1200" b="1">
                <a:solidFill>
                  <a:srgbClr val="0072BC"/>
                </a:solidFill>
              </a:defRPr>
            </a:pPr>
            <a:r>
              <a:t>GÉNÉRATION GIF TEMPOREL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endParaRPr/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def create_animation(output_dir, frame_pattern='frame_*.png'):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"""Crée GIF à partir des frames PNG"""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from PIL import Image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import glob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frames = []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frame_files = sorted(glob.glob(f"{output_dir}/{frame_pattern}"))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for frame_file in frame_files: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    frame = Image.open(frame_file)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    frames.append(frame)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if frames: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    frames[0].save(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        f"{output_dir}/simulation.gif",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        save_all=True,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        append_images=frames[1:],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        duration=100,  # 100ms entre frames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        loop=0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    )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endParaRPr/>
          </a:p>
          <a:p>
            <a:pPr>
              <a:spcAft>
                <a:spcPts val="100"/>
              </a:spcAft>
              <a:defRPr sz="1200" b="1">
                <a:solidFill>
                  <a:srgbClr val="0072BC"/>
                </a:solidFill>
              </a:defRPr>
            </a:pPr>
            <a:r>
              <a:t>EXPORT RÉSULTATS POUR STREAMLIT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endParaRPr/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def export_results_json(metrics, output_file):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"""Export métriques au format JSON pour interface"""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import json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results = {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    'parameters': {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        'well_diameter': D_well,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        'needle_diameter': D_needle,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        'viscosity': eta_0,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        'contact_angle': theta_deg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    },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    'outputs': {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        'fill_ratio': metrics['fill_ratio'],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        'max_height': metrics['max_height'],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        'contact_area': metrics['contact_area'],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        'simulation_time': metrics['compute_time']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    }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with open(output_file, 'w') as f:</a:t>
            </a:r>
          </a:p>
          <a:p>
            <a:pPr>
              <a:spcAft>
                <a:spcPts val="100"/>
              </a:spcAft>
              <a:defRPr sz="800">
                <a:latin typeface="Courier New"/>
              </a:defRPr>
            </a:pPr>
            <a:r>
              <a:t>        json.dump(results, f, indent=2)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2BC"/>
                </a:solidFill>
              </a:defRPr>
            </a:pPr>
            <a:r>
              <a:t>Annexe 3 - Nomenclature complète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31.10.25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6400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C00000"/>
                </a:solidFill>
              </a:defRPr>
            </a:pPr>
            <a:r>
              <a:t>Confidential. Not to be reproduced without the permission of Linxens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822960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54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Symbole</a:t>
                      </a:r>
                    </a:p>
                  </a:txBody>
                  <a:tcPr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Définition</a:t>
                      </a:r>
                    </a:p>
                  </a:txBody>
                  <a:tcPr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Unité</a:t>
                      </a:r>
                    </a:p>
                  </a:txBody>
                  <a:tcPr>
                    <a:solidFill>
                      <a:srgbClr val="0072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5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Vecteur vitesse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5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5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Masse volumique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kg/m³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5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η, 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Viscosité dynamique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Pa·s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5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γ̇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Taux de cisaillement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s⁻¹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5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Tension de surface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N/m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5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Fonction level-set Phase-Field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5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Angle de contact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rad ou 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5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Courbure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m⁻¹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25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Épaisseur interface diffuse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5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Temps relaxation (Carreau)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5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Indice pseudoplasticité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5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D_well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Diamètre puit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5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D_needle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Diamètre seringue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5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h_well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Hauteur puit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25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Nombre de Reynolds = ρvL/μ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5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Nombre Capillaire = μv/σ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25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We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Nombre de Weber = ρv²L/σ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25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Nombre de Bond = ρgL²/σ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256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α_fill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Taux de remplissage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6362</TotalTime>
  <Words>5429</Words>
  <Application>Microsoft Office PowerPoint</Application>
  <PresentationFormat>Affichage à l'écran (4:3)</PresentationFormat>
  <Paragraphs>747</Paragraphs>
  <Slides>23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Eric Queau</dc:creator>
  <cp:keywords/>
  <dc:description>generated using python-pptx</dc:description>
  <cp:lastModifiedBy>Eric Queau</cp:lastModifiedBy>
  <cp:revision>6</cp:revision>
  <dcterms:created xsi:type="dcterms:W3CDTF">2013-01-27T09:14:16Z</dcterms:created>
  <dcterms:modified xsi:type="dcterms:W3CDTF">2025-12-22T01:42:00Z</dcterms:modified>
  <cp:category/>
</cp:coreProperties>
</file>